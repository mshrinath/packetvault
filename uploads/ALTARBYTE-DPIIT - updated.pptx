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70" r:id="rId3"/>
    <p:sldId id="257" r:id="rId4"/>
    <p:sldId id="258" r:id="rId5"/>
    <p:sldId id="259" r:id="rId6"/>
    <p:sldId id="260" r:id="rId7"/>
    <p:sldId id="262" r:id="rId8"/>
    <p:sldId id="263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04D4"/>
    <a:srgbClr val="FF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ED5541-2F38-4277-9FFD-A7B21F51CB0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15AF923-2E41-4AEB-9733-38AF55410D77}">
      <dgm:prSet phldrT="[Text]"/>
      <dgm:spPr/>
      <dgm:t>
        <a:bodyPr/>
        <a:lstStyle/>
        <a:p>
          <a:r>
            <a:rPr lang="en-US" b="1" dirty="0"/>
            <a:t>End-to-End EV Charger Setup &amp; Support</a:t>
          </a:r>
          <a:endParaRPr lang="en-IN" dirty="0"/>
        </a:p>
      </dgm:t>
    </dgm:pt>
    <dgm:pt modelId="{AF75C88A-5DDB-4594-9554-04AF696E8CCD}" type="parTrans" cxnId="{E19FBE97-90E3-4F55-92B1-F2217AEE7D18}">
      <dgm:prSet/>
      <dgm:spPr/>
      <dgm:t>
        <a:bodyPr/>
        <a:lstStyle/>
        <a:p>
          <a:endParaRPr lang="en-IN"/>
        </a:p>
      </dgm:t>
    </dgm:pt>
    <dgm:pt modelId="{DA0F0B0D-3EA9-47C0-9CB1-C7323091D12B}" type="sibTrans" cxnId="{E19FBE97-90E3-4F55-92B1-F2217AEE7D18}">
      <dgm:prSet/>
      <dgm:spPr/>
      <dgm:t>
        <a:bodyPr/>
        <a:lstStyle/>
        <a:p>
          <a:endParaRPr lang="en-IN"/>
        </a:p>
      </dgm:t>
    </dgm:pt>
    <dgm:pt modelId="{D86A7153-0592-4A98-9CFF-9CFE91AC0EDF}" type="pres">
      <dgm:prSet presAssocID="{91ED5541-2F38-4277-9FFD-A7B21F51CB08}" presName="linear" presStyleCnt="0">
        <dgm:presLayoutVars>
          <dgm:animLvl val="lvl"/>
          <dgm:resizeHandles val="exact"/>
        </dgm:presLayoutVars>
      </dgm:prSet>
      <dgm:spPr/>
    </dgm:pt>
    <dgm:pt modelId="{ADE7BC96-9107-4CDA-98FE-842340759D7C}" type="pres">
      <dgm:prSet presAssocID="{715AF923-2E41-4AEB-9733-38AF55410D77}" presName="parentText" presStyleLbl="node1" presStyleIdx="0" presStyleCnt="1" custAng="10800000" custFlipVert="1" custScaleY="24876" custLinFactNeighborX="-122" custLinFactNeighborY="-99">
        <dgm:presLayoutVars>
          <dgm:chMax val="0"/>
          <dgm:bulletEnabled val="1"/>
        </dgm:presLayoutVars>
      </dgm:prSet>
      <dgm:spPr/>
    </dgm:pt>
  </dgm:ptLst>
  <dgm:cxnLst>
    <dgm:cxn modelId="{8E0F7F41-4472-485F-8456-B5A81EC12C7B}" type="presOf" srcId="{715AF923-2E41-4AEB-9733-38AF55410D77}" destId="{ADE7BC96-9107-4CDA-98FE-842340759D7C}" srcOrd="0" destOrd="0" presId="urn:microsoft.com/office/officeart/2005/8/layout/vList2"/>
    <dgm:cxn modelId="{E19FBE97-90E3-4F55-92B1-F2217AEE7D18}" srcId="{91ED5541-2F38-4277-9FFD-A7B21F51CB08}" destId="{715AF923-2E41-4AEB-9733-38AF55410D77}" srcOrd="0" destOrd="0" parTransId="{AF75C88A-5DDB-4594-9554-04AF696E8CCD}" sibTransId="{DA0F0B0D-3EA9-47C0-9CB1-C7323091D12B}"/>
    <dgm:cxn modelId="{4EC75DBF-8ADA-4E18-98C0-BEE49C5ADB5C}" type="presOf" srcId="{91ED5541-2F38-4277-9FFD-A7B21F51CB08}" destId="{D86A7153-0592-4A98-9CFF-9CFE91AC0EDF}" srcOrd="0" destOrd="0" presId="urn:microsoft.com/office/officeart/2005/8/layout/vList2"/>
    <dgm:cxn modelId="{3A7D9445-CB73-47A0-BFA2-62CDE876660E}" type="presParOf" srcId="{D86A7153-0592-4A98-9CFF-9CFE91AC0EDF}" destId="{ADE7BC96-9107-4CDA-98FE-842340759D7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30504D-1F65-4389-A3E6-C11F8F0473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B1B603-9341-47EC-870D-E79C9BD94516}">
      <dgm:prSet/>
      <dgm:spPr/>
      <dgm:t>
        <a:bodyPr/>
        <a:lstStyle/>
        <a:p>
          <a:r>
            <a:rPr lang="en-IN" dirty="0"/>
            <a:t>Requirements to setup EV charging station/Hub</a:t>
          </a:r>
          <a:endParaRPr lang="en-US" dirty="0"/>
        </a:p>
      </dgm:t>
    </dgm:pt>
    <dgm:pt modelId="{D0F824DA-FAB7-4CAD-B665-2D3FD4F55EC9}" type="parTrans" cxnId="{E6A90687-835A-4F0F-A156-1F324E7952D7}">
      <dgm:prSet/>
      <dgm:spPr/>
      <dgm:t>
        <a:bodyPr/>
        <a:lstStyle/>
        <a:p>
          <a:endParaRPr lang="en-US"/>
        </a:p>
      </dgm:t>
    </dgm:pt>
    <dgm:pt modelId="{0E5EC03F-A22D-4033-B0DB-93FA3B072F9A}" type="sibTrans" cxnId="{E6A90687-835A-4F0F-A156-1F324E7952D7}">
      <dgm:prSet/>
      <dgm:spPr/>
      <dgm:t>
        <a:bodyPr/>
        <a:lstStyle/>
        <a:p>
          <a:endParaRPr lang="en-US"/>
        </a:p>
      </dgm:t>
    </dgm:pt>
    <dgm:pt modelId="{FE7605B1-2B26-4E02-A95E-6342A16E6589}">
      <dgm:prSet custT="1"/>
      <dgm:spPr/>
      <dgm:t>
        <a:bodyPr/>
        <a:lstStyle/>
        <a:p>
          <a:endParaRPr lang="en-US" sz="1600" dirty="0"/>
        </a:p>
      </dgm:t>
    </dgm:pt>
    <dgm:pt modelId="{ADBF3DA7-D8EF-400D-80DF-A92614D9C223}" type="parTrans" cxnId="{A01C58DB-9139-4213-8733-58EFE4C03DE2}">
      <dgm:prSet/>
      <dgm:spPr/>
      <dgm:t>
        <a:bodyPr/>
        <a:lstStyle/>
        <a:p>
          <a:endParaRPr lang="en-US"/>
        </a:p>
      </dgm:t>
    </dgm:pt>
    <dgm:pt modelId="{D4F725E4-0722-45CC-8372-A4EC8A00D168}" type="sibTrans" cxnId="{A01C58DB-9139-4213-8733-58EFE4C03DE2}">
      <dgm:prSet/>
      <dgm:spPr/>
      <dgm:t>
        <a:bodyPr/>
        <a:lstStyle/>
        <a:p>
          <a:endParaRPr lang="en-US"/>
        </a:p>
      </dgm:t>
    </dgm:pt>
    <dgm:pt modelId="{78DE121D-357C-4A0F-B6BB-E15E77397813}">
      <dgm:prSet/>
      <dgm:spPr/>
      <dgm:t>
        <a:bodyPr/>
        <a:lstStyle/>
        <a:p>
          <a:r>
            <a:rPr lang="en-IN" sz="2300" dirty="0"/>
            <a:t>Electricity </a:t>
          </a:r>
          <a:endParaRPr lang="en-US" sz="2300" dirty="0"/>
        </a:p>
      </dgm:t>
    </dgm:pt>
    <dgm:pt modelId="{3916F401-8075-49F0-B706-2C7448FFBC02}" type="parTrans" cxnId="{E8694F03-EBBF-41DC-826C-71554A7B370E}">
      <dgm:prSet/>
      <dgm:spPr/>
      <dgm:t>
        <a:bodyPr/>
        <a:lstStyle/>
        <a:p>
          <a:endParaRPr lang="en-US"/>
        </a:p>
      </dgm:t>
    </dgm:pt>
    <dgm:pt modelId="{948DD7A9-9723-4FB7-8EDD-31AC9BC68DF5}" type="sibTrans" cxnId="{E8694F03-EBBF-41DC-826C-71554A7B370E}">
      <dgm:prSet/>
      <dgm:spPr/>
      <dgm:t>
        <a:bodyPr/>
        <a:lstStyle/>
        <a:p>
          <a:endParaRPr lang="en-US"/>
        </a:p>
      </dgm:t>
    </dgm:pt>
    <dgm:pt modelId="{9AF7F81F-6309-4F1A-9C49-F4FC425D0841}">
      <dgm:prSet/>
      <dgm:spPr/>
      <dgm:t>
        <a:bodyPr/>
        <a:lstStyle/>
        <a:p>
          <a:r>
            <a:rPr lang="en-IN" sz="2300" dirty="0"/>
            <a:t>Water</a:t>
          </a:r>
          <a:endParaRPr lang="en-US" sz="2300" dirty="0"/>
        </a:p>
      </dgm:t>
    </dgm:pt>
    <dgm:pt modelId="{36288269-FC30-485F-A501-0DEC79202480}" type="parTrans" cxnId="{F8179630-6022-48C7-85C9-CDED00D018B4}">
      <dgm:prSet/>
      <dgm:spPr/>
      <dgm:t>
        <a:bodyPr/>
        <a:lstStyle/>
        <a:p>
          <a:endParaRPr lang="en-US"/>
        </a:p>
      </dgm:t>
    </dgm:pt>
    <dgm:pt modelId="{98B232A1-38E3-4D7F-BC36-F31C08775B6A}" type="sibTrans" cxnId="{F8179630-6022-48C7-85C9-CDED00D018B4}">
      <dgm:prSet/>
      <dgm:spPr/>
      <dgm:t>
        <a:bodyPr/>
        <a:lstStyle/>
        <a:p>
          <a:endParaRPr lang="en-US"/>
        </a:p>
      </dgm:t>
    </dgm:pt>
    <dgm:pt modelId="{029541CF-59EC-410B-9E6F-951C5BCDFB8E}">
      <dgm:prSet/>
      <dgm:spPr/>
      <dgm:t>
        <a:bodyPr/>
        <a:lstStyle/>
        <a:p>
          <a:r>
            <a:rPr lang="en-IN" sz="2300" dirty="0"/>
            <a:t>Investment</a:t>
          </a:r>
          <a:endParaRPr lang="en-US" sz="2300" dirty="0"/>
        </a:p>
      </dgm:t>
    </dgm:pt>
    <dgm:pt modelId="{B8D932C6-140B-4CA4-AC62-E85222AB9639}" type="parTrans" cxnId="{8E7A2023-A8BD-4D07-8304-5EDED73BE8F9}">
      <dgm:prSet/>
      <dgm:spPr/>
      <dgm:t>
        <a:bodyPr/>
        <a:lstStyle/>
        <a:p>
          <a:endParaRPr lang="en-US"/>
        </a:p>
      </dgm:t>
    </dgm:pt>
    <dgm:pt modelId="{53326DF0-13FD-48AC-8A30-C4D74B01966E}" type="sibTrans" cxnId="{8E7A2023-A8BD-4D07-8304-5EDED73BE8F9}">
      <dgm:prSet/>
      <dgm:spPr/>
      <dgm:t>
        <a:bodyPr/>
        <a:lstStyle/>
        <a:p>
          <a:endParaRPr lang="en-US"/>
        </a:p>
      </dgm:t>
    </dgm:pt>
    <dgm:pt modelId="{2E139A3D-58E0-4B55-890E-3C1A107EFB8F}">
      <dgm:prSet/>
      <dgm:spPr/>
      <dgm:t>
        <a:bodyPr/>
        <a:lstStyle/>
        <a:p>
          <a:r>
            <a:rPr lang="en-IN" sz="2300" dirty="0"/>
            <a:t>Land (Rent/Lease/Own) </a:t>
          </a:r>
          <a:endParaRPr lang="en-US" sz="2300" dirty="0"/>
        </a:p>
      </dgm:t>
    </dgm:pt>
    <dgm:pt modelId="{5ACBFE0C-7AB4-4499-B21A-56BFB11482EE}" type="parTrans" cxnId="{592DD025-33C0-4EDC-9438-CE3F4DDC9275}">
      <dgm:prSet/>
      <dgm:spPr/>
      <dgm:t>
        <a:bodyPr/>
        <a:lstStyle/>
        <a:p>
          <a:endParaRPr lang="en-IN"/>
        </a:p>
      </dgm:t>
    </dgm:pt>
    <dgm:pt modelId="{01C127DD-B0CB-41A1-A98A-7F0845DE024E}" type="sibTrans" cxnId="{592DD025-33C0-4EDC-9438-CE3F4DDC9275}">
      <dgm:prSet/>
      <dgm:spPr/>
      <dgm:t>
        <a:bodyPr/>
        <a:lstStyle/>
        <a:p>
          <a:endParaRPr lang="en-IN"/>
        </a:p>
      </dgm:t>
    </dgm:pt>
    <dgm:pt modelId="{7067A7EA-7ABA-4BAC-B38F-E8E07570ADEC}" type="pres">
      <dgm:prSet presAssocID="{E630504D-1F65-4389-A3E6-C11F8F0473B9}" presName="linear" presStyleCnt="0">
        <dgm:presLayoutVars>
          <dgm:animLvl val="lvl"/>
          <dgm:resizeHandles val="exact"/>
        </dgm:presLayoutVars>
      </dgm:prSet>
      <dgm:spPr/>
    </dgm:pt>
    <dgm:pt modelId="{9484EA92-3D83-4DF7-BD4B-026A1707C608}" type="pres">
      <dgm:prSet presAssocID="{19B1B603-9341-47EC-870D-E79C9BD94516}" presName="parentText" presStyleLbl="node1" presStyleIdx="0" presStyleCnt="1" custLinFactNeighborX="-37938" custLinFactNeighborY="303">
        <dgm:presLayoutVars>
          <dgm:chMax val="0"/>
          <dgm:bulletEnabled val="1"/>
        </dgm:presLayoutVars>
      </dgm:prSet>
      <dgm:spPr/>
    </dgm:pt>
    <dgm:pt modelId="{1888A2BC-4CBB-43F6-ADC7-3CB5C68B1B36}" type="pres">
      <dgm:prSet presAssocID="{19B1B603-9341-47EC-870D-E79C9BD9451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8694F03-EBBF-41DC-826C-71554A7B370E}" srcId="{19B1B603-9341-47EC-870D-E79C9BD94516}" destId="{78DE121D-357C-4A0F-B6BB-E15E77397813}" srcOrd="2" destOrd="0" parTransId="{3916F401-8075-49F0-B706-2C7448FFBC02}" sibTransId="{948DD7A9-9723-4FB7-8EDD-31AC9BC68DF5}"/>
    <dgm:cxn modelId="{3ED08F0E-C208-4D6E-BFBC-100C766D5F98}" type="presOf" srcId="{78DE121D-357C-4A0F-B6BB-E15E77397813}" destId="{1888A2BC-4CBB-43F6-ADC7-3CB5C68B1B36}" srcOrd="0" destOrd="2" presId="urn:microsoft.com/office/officeart/2005/8/layout/vList2"/>
    <dgm:cxn modelId="{24CB5010-7F52-40C9-9278-DA1EF5481FEC}" type="presOf" srcId="{E630504D-1F65-4389-A3E6-C11F8F0473B9}" destId="{7067A7EA-7ABA-4BAC-B38F-E8E07570ADEC}" srcOrd="0" destOrd="0" presId="urn:microsoft.com/office/officeart/2005/8/layout/vList2"/>
    <dgm:cxn modelId="{8E7A2023-A8BD-4D07-8304-5EDED73BE8F9}" srcId="{19B1B603-9341-47EC-870D-E79C9BD94516}" destId="{029541CF-59EC-410B-9E6F-951C5BCDFB8E}" srcOrd="4" destOrd="0" parTransId="{B8D932C6-140B-4CA4-AC62-E85222AB9639}" sibTransId="{53326DF0-13FD-48AC-8A30-C4D74B01966E}"/>
    <dgm:cxn modelId="{592DD025-33C0-4EDC-9438-CE3F4DDC9275}" srcId="{19B1B603-9341-47EC-870D-E79C9BD94516}" destId="{2E139A3D-58E0-4B55-890E-3C1A107EFB8F}" srcOrd="1" destOrd="0" parTransId="{5ACBFE0C-7AB4-4499-B21A-56BFB11482EE}" sibTransId="{01C127DD-B0CB-41A1-A98A-7F0845DE024E}"/>
    <dgm:cxn modelId="{F8179630-6022-48C7-85C9-CDED00D018B4}" srcId="{19B1B603-9341-47EC-870D-E79C9BD94516}" destId="{9AF7F81F-6309-4F1A-9C49-F4FC425D0841}" srcOrd="3" destOrd="0" parTransId="{36288269-FC30-485F-A501-0DEC79202480}" sibTransId="{98B232A1-38E3-4D7F-BC36-F31C08775B6A}"/>
    <dgm:cxn modelId="{B31A687F-14A1-40D7-BAF2-B2FC40F8558D}" type="presOf" srcId="{2E139A3D-58E0-4B55-890E-3C1A107EFB8F}" destId="{1888A2BC-4CBB-43F6-ADC7-3CB5C68B1B36}" srcOrd="0" destOrd="1" presId="urn:microsoft.com/office/officeart/2005/8/layout/vList2"/>
    <dgm:cxn modelId="{E6A90687-835A-4F0F-A156-1F324E7952D7}" srcId="{E630504D-1F65-4389-A3E6-C11F8F0473B9}" destId="{19B1B603-9341-47EC-870D-E79C9BD94516}" srcOrd="0" destOrd="0" parTransId="{D0F824DA-FAB7-4CAD-B665-2D3FD4F55EC9}" sibTransId="{0E5EC03F-A22D-4033-B0DB-93FA3B072F9A}"/>
    <dgm:cxn modelId="{11AE1095-F51D-43F1-9B1D-ED453ADA6C60}" type="presOf" srcId="{029541CF-59EC-410B-9E6F-951C5BCDFB8E}" destId="{1888A2BC-4CBB-43F6-ADC7-3CB5C68B1B36}" srcOrd="0" destOrd="4" presId="urn:microsoft.com/office/officeart/2005/8/layout/vList2"/>
    <dgm:cxn modelId="{A9A241A4-CC81-4944-B127-56996E24228E}" type="presOf" srcId="{9AF7F81F-6309-4F1A-9C49-F4FC425D0841}" destId="{1888A2BC-4CBB-43F6-ADC7-3CB5C68B1B36}" srcOrd="0" destOrd="3" presId="urn:microsoft.com/office/officeart/2005/8/layout/vList2"/>
    <dgm:cxn modelId="{E326ACBF-D899-434F-8FF0-1E20BD23BD9F}" type="presOf" srcId="{FE7605B1-2B26-4E02-A95E-6342A16E6589}" destId="{1888A2BC-4CBB-43F6-ADC7-3CB5C68B1B36}" srcOrd="0" destOrd="0" presId="urn:microsoft.com/office/officeart/2005/8/layout/vList2"/>
    <dgm:cxn modelId="{A01C58DB-9139-4213-8733-58EFE4C03DE2}" srcId="{19B1B603-9341-47EC-870D-E79C9BD94516}" destId="{FE7605B1-2B26-4E02-A95E-6342A16E6589}" srcOrd="0" destOrd="0" parTransId="{ADBF3DA7-D8EF-400D-80DF-A92614D9C223}" sibTransId="{D4F725E4-0722-45CC-8372-A4EC8A00D168}"/>
    <dgm:cxn modelId="{D3B5AAEE-C46E-4BF4-A3FB-C86591CD13EF}" type="presOf" srcId="{19B1B603-9341-47EC-870D-E79C9BD94516}" destId="{9484EA92-3D83-4DF7-BD4B-026A1707C608}" srcOrd="0" destOrd="0" presId="urn:microsoft.com/office/officeart/2005/8/layout/vList2"/>
    <dgm:cxn modelId="{B9D9723D-E4BE-4BE7-9578-758969813437}" type="presParOf" srcId="{7067A7EA-7ABA-4BAC-B38F-E8E07570ADEC}" destId="{9484EA92-3D83-4DF7-BD4B-026A1707C608}" srcOrd="0" destOrd="0" presId="urn:microsoft.com/office/officeart/2005/8/layout/vList2"/>
    <dgm:cxn modelId="{01499809-B27E-400B-8121-45B8359129B6}" type="presParOf" srcId="{7067A7EA-7ABA-4BAC-B38F-E8E07570ADEC}" destId="{1888A2BC-4CBB-43F6-ADC7-3CB5C68B1B3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FB32E6-AC20-401D-9827-B828BD966FAA}" type="doc">
      <dgm:prSet loTypeId="urn:microsoft.com/office/officeart/2005/8/layout/cycle4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80FC1D93-FA06-48FB-8BCE-6FF6F8E87F39}">
      <dgm:prSet phldrT="[Text]" phldr="0"/>
      <dgm:spPr/>
      <dgm:t>
        <a:bodyPr/>
        <a:lstStyle/>
        <a:p>
          <a:r>
            <a:rPr lang="en-IN" dirty="0"/>
            <a:t>B2B</a:t>
          </a:r>
        </a:p>
      </dgm:t>
    </dgm:pt>
    <dgm:pt modelId="{BB16A08F-6223-46E6-B896-6949C8147784}" type="parTrans" cxnId="{12579160-857A-4BC6-BF65-B0566B38C8DA}">
      <dgm:prSet/>
      <dgm:spPr/>
      <dgm:t>
        <a:bodyPr/>
        <a:lstStyle/>
        <a:p>
          <a:endParaRPr lang="en-IN"/>
        </a:p>
      </dgm:t>
    </dgm:pt>
    <dgm:pt modelId="{6E1479BB-D52E-4D37-B4BE-89A75E4218B5}" type="sibTrans" cxnId="{12579160-857A-4BC6-BF65-B0566B38C8DA}">
      <dgm:prSet/>
      <dgm:spPr/>
      <dgm:t>
        <a:bodyPr/>
        <a:lstStyle/>
        <a:p>
          <a:endParaRPr lang="en-IN"/>
        </a:p>
      </dgm:t>
    </dgm:pt>
    <dgm:pt modelId="{33609044-ABAB-470E-99D1-B1A08BCA5133}">
      <dgm:prSet phldrT="[Text]" phldr="0" custT="1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US" sz="1600" dirty="0">
              <a:solidFill>
                <a:schemeClr val="accent1">
                  <a:lumMod val="75000"/>
                </a:schemeClr>
              </a:solidFill>
            </a:rPr>
            <a:t>Commercial Buildings</a:t>
          </a:r>
          <a:endParaRPr lang="en-IN" sz="1600" dirty="0">
            <a:solidFill>
              <a:schemeClr val="accent1">
                <a:lumMod val="75000"/>
              </a:schemeClr>
            </a:solidFill>
          </a:endParaRPr>
        </a:p>
      </dgm:t>
    </dgm:pt>
    <dgm:pt modelId="{6371D943-A919-46A9-B960-F93463B28741}" type="parTrans" cxnId="{36A656BA-2985-47D0-9CA5-C4F7C1C5B51C}">
      <dgm:prSet/>
      <dgm:spPr/>
      <dgm:t>
        <a:bodyPr/>
        <a:lstStyle/>
        <a:p>
          <a:endParaRPr lang="en-IN"/>
        </a:p>
      </dgm:t>
    </dgm:pt>
    <dgm:pt modelId="{34D66AB6-89A3-4154-B0F9-B316A7B8009B}" type="sibTrans" cxnId="{36A656BA-2985-47D0-9CA5-C4F7C1C5B51C}">
      <dgm:prSet/>
      <dgm:spPr/>
      <dgm:t>
        <a:bodyPr/>
        <a:lstStyle/>
        <a:p>
          <a:endParaRPr lang="en-IN"/>
        </a:p>
      </dgm:t>
    </dgm:pt>
    <dgm:pt modelId="{BE9343B2-D340-4F60-ADA0-D63305537C25}">
      <dgm:prSet phldrT="[Text]" phldr="0"/>
      <dgm:spPr/>
      <dgm:t>
        <a:bodyPr/>
        <a:lstStyle/>
        <a:p>
          <a:r>
            <a:rPr lang="en-IN" dirty="0"/>
            <a:t>B2C</a:t>
          </a:r>
        </a:p>
      </dgm:t>
    </dgm:pt>
    <dgm:pt modelId="{10C96367-3272-49BC-A31A-558E0A136154}" type="parTrans" cxnId="{C86A5DCF-50FC-4C83-838E-B6BDF254E5A0}">
      <dgm:prSet/>
      <dgm:spPr/>
      <dgm:t>
        <a:bodyPr/>
        <a:lstStyle/>
        <a:p>
          <a:endParaRPr lang="en-IN"/>
        </a:p>
      </dgm:t>
    </dgm:pt>
    <dgm:pt modelId="{1DD420CD-7A99-43F0-B277-050333F85924}" type="sibTrans" cxnId="{C86A5DCF-50FC-4C83-838E-B6BDF254E5A0}">
      <dgm:prSet/>
      <dgm:spPr/>
      <dgm:t>
        <a:bodyPr/>
        <a:lstStyle/>
        <a:p>
          <a:endParaRPr lang="en-IN"/>
        </a:p>
      </dgm:t>
    </dgm:pt>
    <dgm:pt modelId="{0160E45F-7DF8-4831-B088-6A7A4D0D0D0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>
              <a:solidFill>
                <a:schemeClr val="accent3">
                  <a:lumMod val="50000"/>
                </a:schemeClr>
              </a:solidFill>
            </a:rPr>
            <a:t>Corporate Offices</a:t>
          </a:r>
          <a:endParaRPr lang="en-IN" sz="1600" dirty="0">
            <a:solidFill>
              <a:schemeClr val="accent3">
                <a:lumMod val="50000"/>
              </a:schemeClr>
            </a:solidFill>
          </a:endParaRPr>
        </a:p>
      </dgm:t>
    </dgm:pt>
    <dgm:pt modelId="{E82755AE-B904-4DBB-A342-0B4FDA9CF5CD}" type="parTrans" cxnId="{DCE32848-5F99-4B31-9D79-56E6FE14ED79}">
      <dgm:prSet/>
      <dgm:spPr/>
      <dgm:t>
        <a:bodyPr/>
        <a:lstStyle/>
        <a:p>
          <a:endParaRPr lang="en-IN"/>
        </a:p>
      </dgm:t>
    </dgm:pt>
    <dgm:pt modelId="{29089D58-CB71-4C68-9908-BE13067376B2}" type="sibTrans" cxnId="{DCE32848-5F99-4B31-9D79-56E6FE14ED79}">
      <dgm:prSet/>
      <dgm:spPr/>
      <dgm:t>
        <a:bodyPr/>
        <a:lstStyle/>
        <a:p>
          <a:endParaRPr lang="en-IN"/>
        </a:p>
      </dgm:t>
    </dgm:pt>
    <dgm:pt modelId="{12407EBB-C839-47BB-A78F-D7AC2F8372CE}">
      <dgm:prSet phldrT="[Text]" phldr="0"/>
      <dgm:spPr/>
      <dgm:t>
        <a:bodyPr/>
        <a:lstStyle/>
        <a:p>
          <a:r>
            <a:rPr lang="en-IN" dirty="0"/>
            <a:t>Direct Sales</a:t>
          </a:r>
        </a:p>
      </dgm:t>
    </dgm:pt>
    <dgm:pt modelId="{914B59A3-3D4A-4E98-B83C-A8491D4C2411}" type="parTrans" cxnId="{D835784C-89FC-499D-B59D-5A759582D0BE}">
      <dgm:prSet/>
      <dgm:spPr/>
      <dgm:t>
        <a:bodyPr/>
        <a:lstStyle/>
        <a:p>
          <a:endParaRPr lang="en-IN"/>
        </a:p>
      </dgm:t>
    </dgm:pt>
    <dgm:pt modelId="{AD25B2E2-1307-4AFC-AECD-A49CE74CFA08}" type="sibTrans" cxnId="{D835784C-89FC-499D-B59D-5A759582D0BE}">
      <dgm:prSet/>
      <dgm:spPr/>
      <dgm:t>
        <a:bodyPr/>
        <a:lstStyle/>
        <a:p>
          <a:endParaRPr lang="en-IN"/>
        </a:p>
      </dgm:t>
    </dgm:pt>
    <dgm:pt modelId="{86E800DD-0FDD-448F-9FA6-442630CFA2F7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600" dirty="0">
              <a:solidFill>
                <a:schemeClr val="accent2"/>
              </a:solidFill>
            </a:rPr>
            <a:t>Highways &amp; Fuel Stations</a:t>
          </a:r>
        </a:p>
      </dgm:t>
    </dgm:pt>
    <dgm:pt modelId="{45AB3687-669A-46D6-A648-23E387724CB0}" type="parTrans" cxnId="{EA95DD67-9DE0-4780-9C86-6A647DEE0F20}">
      <dgm:prSet/>
      <dgm:spPr/>
      <dgm:t>
        <a:bodyPr/>
        <a:lstStyle/>
        <a:p>
          <a:endParaRPr lang="en-IN"/>
        </a:p>
      </dgm:t>
    </dgm:pt>
    <dgm:pt modelId="{C7839B31-77D7-4C4D-B32E-7D9BFC9C8ABD}" type="sibTrans" cxnId="{EA95DD67-9DE0-4780-9C86-6A647DEE0F20}">
      <dgm:prSet/>
      <dgm:spPr/>
      <dgm:t>
        <a:bodyPr/>
        <a:lstStyle/>
        <a:p>
          <a:endParaRPr lang="en-IN"/>
        </a:p>
      </dgm:t>
    </dgm:pt>
    <dgm:pt modelId="{640416D7-9CE7-4294-B9AE-C73861D05C4D}">
      <dgm:prSet phldrT="[Text]" phldr="0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IN" dirty="0"/>
            <a:t>CPO &amp; Dealers</a:t>
          </a:r>
        </a:p>
      </dgm:t>
    </dgm:pt>
    <dgm:pt modelId="{7E165D8B-05B6-413A-A474-674A4F309A3D}" type="parTrans" cxnId="{EDD5259C-78B6-4D84-ACE7-F9E3201B17D1}">
      <dgm:prSet/>
      <dgm:spPr/>
      <dgm:t>
        <a:bodyPr/>
        <a:lstStyle/>
        <a:p>
          <a:endParaRPr lang="en-IN"/>
        </a:p>
      </dgm:t>
    </dgm:pt>
    <dgm:pt modelId="{F1C65276-BBC4-4012-BE10-D033F3F8B5E2}" type="sibTrans" cxnId="{EDD5259C-78B6-4D84-ACE7-F9E3201B17D1}">
      <dgm:prSet/>
      <dgm:spPr/>
      <dgm:t>
        <a:bodyPr/>
        <a:lstStyle/>
        <a:p>
          <a:endParaRPr lang="en-IN"/>
        </a:p>
      </dgm:t>
    </dgm:pt>
    <dgm:pt modelId="{BC14CE68-F506-4B53-92E0-856FD2EA2D8D}">
      <dgm:prSet phldrT="[Text]" phldr="0" custT="1"/>
      <dgm:spPr/>
      <dgm:t>
        <a:bodyPr/>
        <a:lstStyle/>
        <a:p>
          <a:r>
            <a:rPr lang="en-IN" sz="1600" dirty="0">
              <a:solidFill>
                <a:schemeClr val="accent1"/>
              </a:solidFill>
            </a:rPr>
            <a:t>Charge point Operators</a:t>
          </a:r>
        </a:p>
      </dgm:t>
    </dgm:pt>
    <dgm:pt modelId="{010DD1B5-6753-415E-B551-004791250949}" type="parTrans" cxnId="{718735AB-7C57-4C25-9890-72ABFCBC4EF2}">
      <dgm:prSet/>
      <dgm:spPr/>
      <dgm:t>
        <a:bodyPr/>
        <a:lstStyle/>
        <a:p>
          <a:endParaRPr lang="en-IN"/>
        </a:p>
      </dgm:t>
    </dgm:pt>
    <dgm:pt modelId="{BFB46DD5-FA20-4E6D-9AE8-3A3BAB21CB37}" type="sibTrans" cxnId="{718735AB-7C57-4C25-9890-72ABFCBC4EF2}">
      <dgm:prSet/>
      <dgm:spPr/>
      <dgm:t>
        <a:bodyPr/>
        <a:lstStyle/>
        <a:p>
          <a:endParaRPr lang="en-IN"/>
        </a:p>
      </dgm:t>
    </dgm:pt>
    <dgm:pt modelId="{0BD3F144-A465-408F-9768-4E16991D3D25}">
      <dgm:prSet phldrT="[Text]" phldr="0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600" dirty="0">
              <a:solidFill>
                <a:schemeClr val="accent1">
                  <a:lumMod val="75000"/>
                </a:schemeClr>
              </a:solidFill>
            </a:rPr>
            <a:t>Fleet Operators</a:t>
          </a:r>
          <a:endParaRPr lang="en-IN" sz="1600" dirty="0">
            <a:solidFill>
              <a:schemeClr val="accent1">
                <a:lumMod val="75000"/>
              </a:schemeClr>
            </a:solidFill>
          </a:endParaRPr>
        </a:p>
      </dgm:t>
    </dgm:pt>
    <dgm:pt modelId="{CF7BDB66-3E55-440F-97BA-947C3AC44B93}" type="parTrans" cxnId="{61C8DE0F-2C3B-4134-B567-64E5196B7506}">
      <dgm:prSet/>
      <dgm:spPr/>
      <dgm:t>
        <a:bodyPr/>
        <a:lstStyle/>
        <a:p>
          <a:endParaRPr lang="en-IN"/>
        </a:p>
      </dgm:t>
    </dgm:pt>
    <dgm:pt modelId="{2A6B69D2-554F-41AA-BEF9-2BCF9BEEA79A}" type="sibTrans" cxnId="{61C8DE0F-2C3B-4134-B567-64E5196B7506}">
      <dgm:prSet/>
      <dgm:spPr/>
      <dgm:t>
        <a:bodyPr/>
        <a:lstStyle/>
        <a:p>
          <a:endParaRPr lang="en-IN"/>
        </a:p>
      </dgm:t>
    </dgm:pt>
    <dgm:pt modelId="{F2A327EA-31E8-4A8E-8142-5A7F33009DD0}">
      <dgm:prSet phldrT="[Text]" phldr="0" custT="1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US" sz="1600" dirty="0">
              <a:solidFill>
                <a:schemeClr val="accent1">
                  <a:lumMod val="75000"/>
                </a:schemeClr>
              </a:solidFill>
            </a:rPr>
            <a:t>Malls &amp; Retail   </a:t>
          </a:r>
          <a:endParaRPr lang="en-IN" sz="1600" dirty="0">
            <a:solidFill>
              <a:schemeClr val="accent1">
                <a:lumMod val="75000"/>
              </a:schemeClr>
            </a:solidFill>
          </a:endParaRPr>
        </a:p>
      </dgm:t>
    </dgm:pt>
    <dgm:pt modelId="{68825776-CCD6-4746-8152-B25DB7812221}" type="parTrans" cxnId="{4DF077C1-FE3B-446B-91DB-D6AFECDFFE87}">
      <dgm:prSet/>
      <dgm:spPr/>
      <dgm:t>
        <a:bodyPr/>
        <a:lstStyle/>
        <a:p>
          <a:endParaRPr lang="en-IN"/>
        </a:p>
      </dgm:t>
    </dgm:pt>
    <dgm:pt modelId="{25C68C87-8D61-4C15-8320-7A87D71C4A8E}" type="sibTrans" cxnId="{4DF077C1-FE3B-446B-91DB-D6AFECDFFE87}">
      <dgm:prSet/>
      <dgm:spPr/>
      <dgm:t>
        <a:bodyPr/>
        <a:lstStyle/>
        <a:p>
          <a:endParaRPr lang="en-IN"/>
        </a:p>
      </dgm:t>
    </dgm:pt>
    <dgm:pt modelId="{52241A41-F07F-4228-AFA3-B593B4BCDAA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>
              <a:solidFill>
                <a:schemeClr val="accent3">
                  <a:lumMod val="50000"/>
                </a:schemeClr>
              </a:solidFill>
            </a:rPr>
            <a:t>Parking Operators</a:t>
          </a:r>
          <a:endParaRPr lang="en-IN" sz="1600" dirty="0">
            <a:solidFill>
              <a:schemeClr val="accent3">
                <a:lumMod val="50000"/>
              </a:schemeClr>
            </a:solidFill>
          </a:endParaRPr>
        </a:p>
      </dgm:t>
    </dgm:pt>
    <dgm:pt modelId="{2B1B4844-8D1F-490E-9A72-72A1C333355D}" type="parTrans" cxnId="{9A5A8625-50C2-49C6-8589-1F6104081B91}">
      <dgm:prSet/>
      <dgm:spPr/>
      <dgm:t>
        <a:bodyPr/>
        <a:lstStyle/>
        <a:p>
          <a:endParaRPr lang="en-IN"/>
        </a:p>
      </dgm:t>
    </dgm:pt>
    <dgm:pt modelId="{39766D8D-B279-49E2-93F5-E78A6D595E61}" type="sibTrans" cxnId="{9A5A8625-50C2-49C6-8589-1F6104081B91}">
      <dgm:prSet/>
      <dgm:spPr/>
      <dgm:t>
        <a:bodyPr/>
        <a:lstStyle/>
        <a:p>
          <a:endParaRPr lang="en-IN"/>
        </a:p>
      </dgm:t>
    </dgm:pt>
    <dgm:pt modelId="{A1595894-5240-49DD-BA20-DE4CFE70C223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>
              <a:solidFill>
                <a:schemeClr val="accent3">
                  <a:lumMod val="50000"/>
                </a:schemeClr>
              </a:solidFill>
            </a:rPr>
            <a:t>Public Charging Networks</a:t>
          </a:r>
          <a:endParaRPr lang="en-IN" sz="1600" dirty="0">
            <a:solidFill>
              <a:schemeClr val="accent3">
                <a:lumMod val="50000"/>
              </a:schemeClr>
            </a:solidFill>
          </a:endParaRPr>
        </a:p>
      </dgm:t>
    </dgm:pt>
    <dgm:pt modelId="{142A71E3-DCB9-4B81-948C-F52860F44628}" type="parTrans" cxnId="{B122583F-DB2A-49FB-A26A-84201E5B203F}">
      <dgm:prSet/>
      <dgm:spPr/>
      <dgm:t>
        <a:bodyPr/>
        <a:lstStyle/>
        <a:p>
          <a:endParaRPr lang="en-IN"/>
        </a:p>
      </dgm:t>
    </dgm:pt>
    <dgm:pt modelId="{C6F2D13D-F9C2-404C-8D6B-2595983ECE7D}" type="sibTrans" cxnId="{B122583F-DB2A-49FB-A26A-84201E5B203F}">
      <dgm:prSet/>
      <dgm:spPr/>
      <dgm:t>
        <a:bodyPr/>
        <a:lstStyle/>
        <a:p>
          <a:endParaRPr lang="en-IN"/>
        </a:p>
      </dgm:t>
    </dgm:pt>
    <dgm:pt modelId="{4654682B-B23A-442F-AAC3-27939A1B1D64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600" dirty="0">
              <a:solidFill>
                <a:schemeClr val="accent2"/>
              </a:solidFill>
            </a:rPr>
            <a:t>Residential Communities</a:t>
          </a:r>
        </a:p>
      </dgm:t>
    </dgm:pt>
    <dgm:pt modelId="{5974FD62-B018-4C38-9B75-292FED01AE4D}" type="parTrans" cxnId="{7546DE55-C452-4AD4-94B8-C174348727CB}">
      <dgm:prSet/>
      <dgm:spPr/>
      <dgm:t>
        <a:bodyPr/>
        <a:lstStyle/>
        <a:p>
          <a:endParaRPr lang="en-IN"/>
        </a:p>
      </dgm:t>
    </dgm:pt>
    <dgm:pt modelId="{C96D084D-9649-4E11-B1E2-E76B4DFD309A}" type="sibTrans" cxnId="{7546DE55-C452-4AD4-94B8-C174348727CB}">
      <dgm:prSet/>
      <dgm:spPr/>
      <dgm:t>
        <a:bodyPr/>
        <a:lstStyle/>
        <a:p>
          <a:endParaRPr lang="en-IN"/>
        </a:p>
      </dgm:t>
    </dgm:pt>
    <dgm:pt modelId="{3E65A6CC-5837-4625-B55C-06AA3A59EDD5}">
      <dgm:prSet phldrT="[Text]" phldr="0" custT="1"/>
      <dgm:spPr/>
      <dgm:t>
        <a:bodyPr/>
        <a:lstStyle/>
        <a:p>
          <a:r>
            <a:rPr lang="en-IN" sz="1600" dirty="0">
              <a:solidFill>
                <a:schemeClr val="accent1"/>
              </a:solidFill>
            </a:rPr>
            <a:t>Dealership and partners</a:t>
          </a:r>
        </a:p>
      </dgm:t>
    </dgm:pt>
    <dgm:pt modelId="{E2B7DBB9-045C-4504-8E25-3E6748C2167F}" type="parTrans" cxnId="{D0394A37-020C-4FC3-9678-8DDEAA9BF66C}">
      <dgm:prSet/>
      <dgm:spPr/>
      <dgm:t>
        <a:bodyPr/>
        <a:lstStyle/>
        <a:p>
          <a:endParaRPr lang="en-IN"/>
        </a:p>
      </dgm:t>
    </dgm:pt>
    <dgm:pt modelId="{F3D9A0B3-0643-479A-B806-8952C24DDF75}" type="sibTrans" cxnId="{D0394A37-020C-4FC3-9678-8DDEAA9BF66C}">
      <dgm:prSet/>
      <dgm:spPr/>
      <dgm:t>
        <a:bodyPr/>
        <a:lstStyle/>
        <a:p>
          <a:endParaRPr lang="en-IN"/>
        </a:p>
      </dgm:t>
    </dgm:pt>
    <dgm:pt modelId="{0958629C-BB41-4150-9107-9F722A7DF039}">
      <dgm:prSet phldrT="[Text]" phldr="0" custT="1"/>
      <dgm:spPr/>
      <dgm:t>
        <a:bodyPr/>
        <a:lstStyle/>
        <a:p>
          <a:pPr algn="ctr">
            <a:buFont typeface="Arial" panose="020B0604020202020204" pitchFamily="34" charset="0"/>
            <a:buNone/>
          </a:pPr>
          <a:r>
            <a:rPr lang="en-US" sz="1600" dirty="0">
              <a:solidFill>
                <a:schemeClr val="accent1">
                  <a:lumMod val="75000"/>
                </a:schemeClr>
              </a:solidFill>
            </a:rPr>
            <a:t> Spaces</a:t>
          </a:r>
          <a:endParaRPr lang="en-IN" sz="1600" dirty="0">
            <a:solidFill>
              <a:schemeClr val="accent1">
                <a:lumMod val="75000"/>
              </a:schemeClr>
            </a:solidFill>
          </a:endParaRPr>
        </a:p>
      </dgm:t>
    </dgm:pt>
    <dgm:pt modelId="{DBEC55D6-9A67-4872-92AB-04D3FC4077B9}" type="parTrans" cxnId="{38C416E7-1849-41F8-BE1A-70BBE3B039F4}">
      <dgm:prSet/>
      <dgm:spPr/>
      <dgm:t>
        <a:bodyPr/>
        <a:lstStyle/>
        <a:p>
          <a:endParaRPr lang="en-IN"/>
        </a:p>
      </dgm:t>
    </dgm:pt>
    <dgm:pt modelId="{41A2640E-2895-45D6-8CC2-8EFD812E8B22}" type="sibTrans" cxnId="{38C416E7-1849-41F8-BE1A-70BBE3B039F4}">
      <dgm:prSet/>
      <dgm:spPr/>
      <dgm:t>
        <a:bodyPr/>
        <a:lstStyle/>
        <a:p>
          <a:endParaRPr lang="en-IN"/>
        </a:p>
      </dgm:t>
    </dgm:pt>
    <dgm:pt modelId="{F279DD42-F436-46B2-A88F-1787974D0FB6}" type="pres">
      <dgm:prSet presAssocID="{50FB32E6-AC20-401D-9827-B828BD966FAA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7B0DE12D-AE72-445D-8627-72B6C089CA92}" type="pres">
      <dgm:prSet presAssocID="{50FB32E6-AC20-401D-9827-B828BD966FAA}" presName="children" presStyleCnt="0"/>
      <dgm:spPr/>
    </dgm:pt>
    <dgm:pt modelId="{BF8F3566-9493-4F75-BA19-1A1C3950D85D}" type="pres">
      <dgm:prSet presAssocID="{50FB32E6-AC20-401D-9827-B828BD966FAA}" presName="child1group" presStyleCnt="0"/>
      <dgm:spPr/>
    </dgm:pt>
    <dgm:pt modelId="{08B5B9A6-C70E-42C7-A069-302F49D399BD}" type="pres">
      <dgm:prSet presAssocID="{50FB32E6-AC20-401D-9827-B828BD966FAA}" presName="child1" presStyleLbl="bgAcc1" presStyleIdx="0" presStyleCnt="4" custScaleX="128448"/>
      <dgm:spPr/>
    </dgm:pt>
    <dgm:pt modelId="{39E186D5-ED96-4051-9D5E-9D4DC508994C}" type="pres">
      <dgm:prSet presAssocID="{50FB32E6-AC20-401D-9827-B828BD966FAA}" presName="child1Text" presStyleLbl="bgAcc1" presStyleIdx="0" presStyleCnt="4">
        <dgm:presLayoutVars>
          <dgm:bulletEnabled val="1"/>
        </dgm:presLayoutVars>
      </dgm:prSet>
      <dgm:spPr/>
    </dgm:pt>
    <dgm:pt modelId="{D9420081-D340-468B-A20C-13EFA2AA91D7}" type="pres">
      <dgm:prSet presAssocID="{50FB32E6-AC20-401D-9827-B828BD966FAA}" presName="child2group" presStyleCnt="0"/>
      <dgm:spPr/>
    </dgm:pt>
    <dgm:pt modelId="{FA9FCBED-877A-49F4-B211-67E9E990F67C}" type="pres">
      <dgm:prSet presAssocID="{50FB32E6-AC20-401D-9827-B828BD966FAA}" presName="child2" presStyleLbl="bgAcc1" presStyleIdx="1" presStyleCnt="4" custLinFactNeighborX="18567" custLinFactNeighborY="-661"/>
      <dgm:spPr/>
    </dgm:pt>
    <dgm:pt modelId="{CD03EC0B-6ECF-4E62-AA75-5EC7F2A564DC}" type="pres">
      <dgm:prSet presAssocID="{50FB32E6-AC20-401D-9827-B828BD966FAA}" presName="child2Text" presStyleLbl="bgAcc1" presStyleIdx="1" presStyleCnt="4">
        <dgm:presLayoutVars>
          <dgm:bulletEnabled val="1"/>
        </dgm:presLayoutVars>
      </dgm:prSet>
      <dgm:spPr/>
    </dgm:pt>
    <dgm:pt modelId="{EFD9796A-EAC0-4FA7-904D-39612EAB15A0}" type="pres">
      <dgm:prSet presAssocID="{50FB32E6-AC20-401D-9827-B828BD966FAA}" presName="child3group" presStyleCnt="0"/>
      <dgm:spPr/>
    </dgm:pt>
    <dgm:pt modelId="{0F79F93A-CC44-43A5-A38A-1D776A75C535}" type="pres">
      <dgm:prSet presAssocID="{50FB32E6-AC20-401D-9827-B828BD966FAA}" presName="child3" presStyleLbl="bgAcc1" presStyleIdx="2" presStyleCnt="4" custLinFactNeighborX="18067" custLinFactNeighborY="661"/>
      <dgm:spPr/>
    </dgm:pt>
    <dgm:pt modelId="{697F7CBC-4525-4646-8976-427862FC60D2}" type="pres">
      <dgm:prSet presAssocID="{50FB32E6-AC20-401D-9827-B828BD966FAA}" presName="child3Text" presStyleLbl="bgAcc1" presStyleIdx="2" presStyleCnt="4">
        <dgm:presLayoutVars>
          <dgm:bulletEnabled val="1"/>
        </dgm:presLayoutVars>
      </dgm:prSet>
      <dgm:spPr/>
    </dgm:pt>
    <dgm:pt modelId="{CE9FCD9E-C3E2-4EF3-AB84-4A67DA71F9A7}" type="pres">
      <dgm:prSet presAssocID="{50FB32E6-AC20-401D-9827-B828BD966FAA}" presName="child4group" presStyleCnt="0"/>
      <dgm:spPr/>
    </dgm:pt>
    <dgm:pt modelId="{55743305-AEBB-4DB7-9A97-641B80BB9491}" type="pres">
      <dgm:prSet presAssocID="{50FB32E6-AC20-401D-9827-B828BD966FAA}" presName="child4" presStyleLbl="bgAcc1" presStyleIdx="3" presStyleCnt="4" custScaleX="122910" custScaleY="91030"/>
      <dgm:spPr/>
    </dgm:pt>
    <dgm:pt modelId="{6D4D95A0-DD08-4C10-B745-2E1BE5F7E377}" type="pres">
      <dgm:prSet presAssocID="{50FB32E6-AC20-401D-9827-B828BD966FAA}" presName="child4Text" presStyleLbl="bgAcc1" presStyleIdx="3" presStyleCnt="4">
        <dgm:presLayoutVars>
          <dgm:bulletEnabled val="1"/>
        </dgm:presLayoutVars>
      </dgm:prSet>
      <dgm:spPr/>
    </dgm:pt>
    <dgm:pt modelId="{913FED05-5009-4D3A-BBE0-0870A56E9273}" type="pres">
      <dgm:prSet presAssocID="{50FB32E6-AC20-401D-9827-B828BD966FAA}" presName="childPlaceholder" presStyleCnt="0"/>
      <dgm:spPr/>
    </dgm:pt>
    <dgm:pt modelId="{C1DE0F86-5007-42A2-87CF-6310F33BA258}" type="pres">
      <dgm:prSet presAssocID="{50FB32E6-AC20-401D-9827-B828BD966FAA}" presName="circle" presStyleCnt="0"/>
      <dgm:spPr/>
    </dgm:pt>
    <dgm:pt modelId="{18160B53-9426-4F81-80D3-63D84A84997C}" type="pres">
      <dgm:prSet presAssocID="{50FB32E6-AC20-401D-9827-B828BD966FAA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B034E7C0-63DE-44E5-94FF-DA645A616243}" type="pres">
      <dgm:prSet presAssocID="{50FB32E6-AC20-401D-9827-B828BD966FAA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5DF914F0-4B42-4DDF-954B-414C81222AFA}" type="pres">
      <dgm:prSet presAssocID="{50FB32E6-AC20-401D-9827-B828BD966FAA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E5EC0848-C060-4EB4-A207-2A086CD3F8A9}" type="pres">
      <dgm:prSet presAssocID="{50FB32E6-AC20-401D-9827-B828BD966FAA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C0312E25-A55C-4CCF-A24E-6FF278B4ED8F}" type="pres">
      <dgm:prSet presAssocID="{50FB32E6-AC20-401D-9827-B828BD966FAA}" presName="quadrantPlaceholder" presStyleCnt="0"/>
      <dgm:spPr/>
    </dgm:pt>
    <dgm:pt modelId="{6D05A41C-4EF8-4A6C-B306-DF41AA8527FD}" type="pres">
      <dgm:prSet presAssocID="{50FB32E6-AC20-401D-9827-B828BD966FAA}" presName="center1" presStyleLbl="fgShp" presStyleIdx="0" presStyleCnt="2" custLinFactNeighborX="0"/>
      <dgm:spPr/>
    </dgm:pt>
    <dgm:pt modelId="{F10ACD7D-332E-4CD1-BBF5-2C77A6022DB5}" type="pres">
      <dgm:prSet presAssocID="{50FB32E6-AC20-401D-9827-B828BD966FAA}" presName="center2" presStyleLbl="fgShp" presStyleIdx="1" presStyleCnt="2" custAng="199851" custScaleX="101203" custScaleY="95593" custLinFactNeighborX="-1154"/>
      <dgm:spPr/>
    </dgm:pt>
  </dgm:ptLst>
  <dgm:cxnLst>
    <dgm:cxn modelId="{E4C8270C-CF2A-407F-B51D-1C709942FF20}" type="presOf" srcId="{0BD3F144-A465-408F-9768-4E16991D3D25}" destId="{08B5B9A6-C70E-42C7-A069-302F49D399BD}" srcOrd="0" destOrd="1" presId="urn:microsoft.com/office/officeart/2005/8/layout/cycle4"/>
    <dgm:cxn modelId="{5E395F0C-057C-471C-9D73-D42864159DDE}" type="presOf" srcId="{A1595894-5240-49DD-BA20-DE4CFE70C223}" destId="{CD03EC0B-6ECF-4E62-AA75-5EC7F2A564DC}" srcOrd="1" destOrd="2" presId="urn:microsoft.com/office/officeart/2005/8/layout/cycle4"/>
    <dgm:cxn modelId="{61C8DE0F-2C3B-4134-B567-64E5196B7506}" srcId="{33609044-ABAB-470E-99D1-B1A08BCA5133}" destId="{0BD3F144-A465-408F-9768-4E16991D3D25}" srcOrd="0" destOrd="0" parTransId="{CF7BDB66-3E55-440F-97BA-947C3AC44B93}" sibTransId="{2A6B69D2-554F-41AA-BEF9-2BCF9BEEA79A}"/>
    <dgm:cxn modelId="{18ADD024-BC8F-4AD2-8FE6-1C3F334F2C89}" type="presOf" srcId="{BC14CE68-F506-4B53-92E0-856FD2EA2D8D}" destId="{55743305-AEBB-4DB7-9A97-641B80BB9491}" srcOrd="0" destOrd="0" presId="urn:microsoft.com/office/officeart/2005/8/layout/cycle4"/>
    <dgm:cxn modelId="{9A5A8625-50C2-49C6-8589-1F6104081B91}" srcId="{BE9343B2-D340-4F60-ADA0-D63305537C25}" destId="{52241A41-F07F-4228-AFA3-B593B4BCDAAA}" srcOrd="1" destOrd="0" parTransId="{2B1B4844-8D1F-490E-9A72-72A1C333355D}" sibTransId="{39766D8D-B279-49E2-93F5-E78A6D595E61}"/>
    <dgm:cxn modelId="{CFB67B33-2DF2-4D37-8403-98D345BDB410}" type="presOf" srcId="{0160E45F-7DF8-4831-B088-6A7A4D0D0D09}" destId="{FA9FCBED-877A-49F4-B211-67E9E990F67C}" srcOrd="0" destOrd="0" presId="urn:microsoft.com/office/officeart/2005/8/layout/cycle4"/>
    <dgm:cxn modelId="{D0394A37-020C-4FC3-9678-8DDEAA9BF66C}" srcId="{640416D7-9CE7-4294-B9AE-C73861D05C4D}" destId="{3E65A6CC-5837-4625-B55C-06AA3A59EDD5}" srcOrd="1" destOrd="0" parTransId="{E2B7DBB9-045C-4504-8E25-3E6748C2167F}" sibTransId="{F3D9A0B3-0643-479A-B806-8952C24DDF75}"/>
    <dgm:cxn modelId="{B122583F-DB2A-49FB-A26A-84201E5B203F}" srcId="{BE9343B2-D340-4F60-ADA0-D63305537C25}" destId="{A1595894-5240-49DD-BA20-DE4CFE70C223}" srcOrd="2" destOrd="0" parTransId="{142A71E3-DCB9-4B81-948C-F52860F44628}" sibTransId="{C6F2D13D-F9C2-404C-8D6B-2595983ECE7D}"/>
    <dgm:cxn modelId="{D1837040-F30B-44A4-9A25-59CEC040AB95}" type="presOf" srcId="{86E800DD-0FDD-448F-9FA6-442630CFA2F7}" destId="{0F79F93A-CC44-43A5-A38A-1D776A75C535}" srcOrd="0" destOrd="0" presId="urn:microsoft.com/office/officeart/2005/8/layout/cycle4"/>
    <dgm:cxn modelId="{12579160-857A-4BC6-BF65-B0566B38C8DA}" srcId="{50FB32E6-AC20-401D-9827-B828BD966FAA}" destId="{80FC1D93-FA06-48FB-8BCE-6FF6F8E87F39}" srcOrd="0" destOrd="0" parTransId="{BB16A08F-6223-46E6-B896-6949C8147784}" sibTransId="{6E1479BB-D52E-4D37-B4BE-89A75E4218B5}"/>
    <dgm:cxn modelId="{0D268066-57D0-4185-A143-91EDB1B30D80}" type="presOf" srcId="{4654682B-B23A-442F-AAC3-27939A1B1D64}" destId="{697F7CBC-4525-4646-8976-427862FC60D2}" srcOrd="1" destOrd="1" presId="urn:microsoft.com/office/officeart/2005/8/layout/cycle4"/>
    <dgm:cxn modelId="{EA95DD67-9DE0-4780-9C86-6A647DEE0F20}" srcId="{12407EBB-C839-47BB-A78F-D7AC2F8372CE}" destId="{86E800DD-0FDD-448F-9FA6-442630CFA2F7}" srcOrd="0" destOrd="0" parTransId="{45AB3687-669A-46D6-A648-23E387724CB0}" sibTransId="{C7839B31-77D7-4C4D-B32E-7D9BFC9C8ABD}"/>
    <dgm:cxn modelId="{DCE32848-5F99-4B31-9D79-56E6FE14ED79}" srcId="{BE9343B2-D340-4F60-ADA0-D63305537C25}" destId="{0160E45F-7DF8-4831-B088-6A7A4D0D0D09}" srcOrd="0" destOrd="0" parTransId="{E82755AE-B904-4DBB-A342-0B4FDA9CF5CD}" sibTransId="{29089D58-CB71-4C68-9908-BE13067376B2}"/>
    <dgm:cxn modelId="{4EF5966B-5481-4008-AD5D-0853B40EDD31}" type="presOf" srcId="{0160E45F-7DF8-4831-B088-6A7A4D0D0D09}" destId="{CD03EC0B-6ECF-4E62-AA75-5EC7F2A564DC}" srcOrd="1" destOrd="0" presId="urn:microsoft.com/office/officeart/2005/8/layout/cycle4"/>
    <dgm:cxn modelId="{3A56A64B-8B0F-40B9-8A72-5216EBD96D36}" type="presOf" srcId="{F2A327EA-31E8-4A8E-8142-5A7F33009DD0}" destId="{39E186D5-ED96-4051-9D5E-9D4DC508994C}" srcOrd="1" destOrd="2" presId="urn:microsoft.com/office/officeart/2005/8/layout/cycle4"/>
    <dgm:cxn modelId="{D835784C-89FC-499D-B59D-5A759582D0BE}" srcId="{50FB32E6-AC20-401D-9827-B828BD966FAA}" destId="{12407EBB-C839-47BB-A78F-D7AC2F8372CE}" srcOrd="2" destOrd="0" parTransId="{914B59A3-3D4A-4E98-B83C-A8491D4C2411}" sibTransId="{AD25B2E2-1307-4AFC-AECD-A49CE74CFA08}"/>
    <dgm:cxn modelId="{66398C4D-99BB-42C2-9B66-051A81C3283C}" type="presOf" srcId="{80FC1D93-FA06-48FB-8BCE-6FF6F8E87F39}" destId="{18160B53-9426-4F81-80D3-63D84A84997C}" srcOrd="0" destOrd="0" presId="urn:microsoft.com/office/officeart/2005/8/layout/cycle4"/>
    <dgm:cxn modelId="{03785075-4B56-4006-9D55-5C953F90EE3D}" type="presOf" srcId="{33609044-ABAB-470E-99D1-B1A08BCA5133}" destId="{08B5B9A6-C70E-42C7-A069-302F49D399BD}" srcOrd="0" destOrd="0" presId="urn:microsoft.com/office/officeart/2005/8/layout/cycle4"/>
    <dgm:cxn modelId="{7546DE55-C452-4AD4-94B8-C174348727CB}" srcId="{12407EBB-C839-47BB-A78F-D7AC2F8372CE}" destId="{4654682B-B23A-442F-AAC3-27939A1B1D64}" srcOrd="1" destOrd="0" parTransId="{5974FD62-B018-4C38-9B75-292FED01AE4D}" sibTransId="{C96D084D-9649-4E11-B1E2-E76B4DFD309A}"/>
    <dgm:cxn modelId="{71B6BD56-AB9E-4F33-A72D-150E789F4B7C}" type="presOf" srcId="{3E65A6CC-5837-4625-B55C-06AA3A59EDD5}" destId="{6D4D95A0-DD08-4C10-B745-2E1BE5F7E377}" srcOrd="1" destOrd="1" presId="urn:microsoft.com/office/officeart/2005/8/layout/cycle4"/>
    <dgm:cxn modelId="{1697127C-766E-43CC-8934-CA1A9C60D570}" type="presOf" srcId="{A1595894-5240-49DD-BA20-DE4CFE70C223}" destId="{FA9FCBED-877A-49F4-B211-67E9E990F67C}" srcOrd="0" destOrd="2" presId="urn:microsoft.com/office/officeart/2005/8/layout/cycle4"/>
    <dgm:cxn modelId="{F1EBA180-88E6-4D11-A5C6-FBB96630CD04}" type="presOf" srcId="{52241A41-F07F-4228-AFA3-B593B4BCDAAA}" destId="{CD03EC0B-6ECF-4E62-AA75-5EC7F2A564DC}" srcOrd="1" destOrd="1" presId="urn:microsoft.com/office/officeart/2005/8/layout/cycle4"/>
    <dgm:cxn modelId="{1686BD8A-CA49-487D-894D-5E1760C0302D}" type="presOf" srcId="{0BD3F144-A465-408F-9768-4E16991D3D25}" destId="{39E186D5-ED96-4051-9D5E-9D4DC508994C}" srcOrd="1" destOrd="1" presId="urn:microsoft.com/office/officeart/2005/8/layout/cycle4"/>
    <dgm:cxn modelId="{4AC39C92-AC0B-4F65-A612-16E809D376EE}" type="presOf" srcId="{640416D7-9CE7-4294-B9AE-C73861D05C4D}" destId="{E5EC0848-C060-4EB4-A207-2A086CD3F8A9}" srcOrd="0" destOrd="0" presId="urn:microsoft.com/office/officeart/2005/8/layout/cycle4"/>
    <dgm:cxn modelId="{EDD5259C-78B6-4D84-ACE7-F9E3201B17D1}" srcId="{50FB32E6-AC20-401D-9827-B828BD966FAA}" destId="{640416D7-9CE7-4294-B9AE-C73861D05C4D}" srcOrd="3" destOrd="0" parTransId="{7E165D8B-05B6-413A-A474-674A4F309A3D}" sibTransId="{F1C65276-BBC4-4012-BE10-D033F3F8B5E2}"/>
    <dgm:cxn modelId="{D0EFDD9D-58B8-48BF-99CE-4167828A2DD5}" type="presOf" srcId="{0958629C-BB41-4150-9107-9F722A7DF039}" destId="{08B5B9A6-C70E-42C7-A069-302F49D399BD}" srcOrd="0" destOrd="3" presId="urn:microsoft.com/office/officeart/2005/8/layout/cycle4"/>
    <dgm:cxn modelId="{718735AB-7C57-4C25-9890-72ABFCBC4EF2}" srcId="{640416D7-9CE7-4294-B9AE-C73861D05C4D}" destId="{BC14CE68-F506-4B53-92E0-856FD2EA2D8D}" srcOrd="0" destOrd="0" parTransId="{010DD1B5-6753-415E-B551-004791250949}" sibTransId="{BFB46DD5-FA20-4E6D-9AE8-3A3BAB21CB37}"/>
    <dgm:cxn modelId="{36A656BA-2985-47D0-9CA5-C4F7C1C5B51C}" srcId="{80FC1D93-FA06-48FB-8BCE-6FF6F8E87F39}" destId="{33609044-ABAB-470E-99D1-B1A08BCA5133}" srcOrd="0" destOrd="0" parTransId="{6371D943-A919-46A9-B960-F93463B28741}" sibTransId="{34D66AB6-89A3-4154-B0F9-B316A7B8009B}"/>
    <dgm:cxn modelId="{33A699BE-2479-4F51-8337-942B03537832}" type="presOf" srcId="{BC14CE68-F506-4B53-92E0-856FD2EA2D8D}" destId="{6D4D95A0-DD08-4C10-B745-2E1BE5F7E377}" srcOrd="1" destOrd="0" presId="urn:microsoft.com/office/officeart/2005/8/layout/cycle4"/>
    <dgm:cxn modelId="{4DF077C1-FE3B-446B-91DB-D6AFECDFFE87}" srcId="{80FC1D93-FA06-48FB-8BCE-6FF6F8E87F39}" destId="{F2A327EA-31E8-4A8E-8142-5A7F33009DD0}" srcOrd="1" destOrd="0" parTransId="{68825776-CCD6-4746-8152-B25DB7812221}" sibTransId="{25C68C87-8D61-4C15-8320-7A87D71C4A8E}"/>
    <dgm:cxn modelId="{454ECBC2-F115-40A9-B6C1-3442C05B5C80}" type="presOf" srcId="{52241A41-F07F-4228-AFA3-B593B4BCDAAA}" destId="{FA9FCBED-877A-49F4-B211-67E9E990F67C}" srcOrd="0" destOrd="1" presId="urn:microsoft.com/office/officeart/2005/8/layout/cycle4"/>
    <dgm:cxn modelId="{5D9890CD-BDC9-4957-A217-1ECCF771A588}" type="presOf" srcId="{BE9343B2-D340-4F60-ADA0-D63305537C25}" destId="{B034E7C0-63DE-44E5-94FF-DA645A616243}" srcOrd="0" destOrd="0" presId="urn:microsoft.com/office/officeart/2005/8/layout/cycle4"/>
    <dgm:cxn modelId="{C86A5DCF-50FC-4C83-838E-B6BDF254E5A0}" srcId="{50FB32E6-AC20-401D-9827-B828BD966FAA}" destId="{BE9343B2-D340-4F60-ADA0-D63305537C25}" srcOrd="1" destOrd="0" parTransId="{10C96367-3272-49BC-A31A-558E0A136154}" sibTransId="{1DD420CD-7A99-43F0-B277-050333F85924}"/>
    <dgm:cxn modelId="{25DA45D2-E4A2-4ED2-8FA2-D8C358237FA6}" type="presOf" srcId="{86E800DD-0FDD-448F-9FA6-442630CFA2F7}" destId="{697F7CBC-4525-4646-8976-427862FC60D2}" srcOrd="1" destOrd="0" presId="urn:microsoft.com/office/officeart/2005/8/layout/cycle4"/>
    <dgm:cxn modelId="{87065CD7-5E81-467E-83DF-068C9B0A4C2F}" type="presOf" srcId="{33609044-ABAB-470E-99D1-B1A08BCA5133}" destId="{39E186D5-ED96-4051-9D5E-9D4DC508994C}" srcOrd="1" destOrd="0" presId="urn:microsoft.com/office/officeart/2005/8/layout/cycle4"/>
    <dgm:cxn modelId="{D02CAFDA-4CC3-4FB6-8B6A-154B3909FCE2}" type="presOf" srcId="{4654682B-B23A-442F-AAC3-27939A1B1D64}" destId="{0F79F93A-CC44-43A5-A38A-1D776A75C535}" srcOrd="0" destOrd="1" presId="urn:microsoft.com/office/officeart/2005/8/layout/cycle4"/>
    <dgm:cxn modelId="{38C416E7-1849-41F8-BE1A-70BBE3B039F4}" srcId="{80FC1D93-FA06-48FB-8BCE-6FF6F8E87F39}" destId="{0958629C-BB41-4150-9107-9F722A7DF039}" srcOrd="2" destOrd="0" parTransId="{DBEC55D6-9A67-4872-92AB-04D3FC4077B9}" sibTransId="{41A2640E-2895-45D6-8CC2-8EFD812E8B22}"/>
    <dgm:cxn modelId="{5652F4F3-7DCA-47A5-B46E-8290CCED38C3}" type="presOf" srcId="{12407EBB-C839-47BB-A78F-D7AC2F8372CE}" destId="{5DF914F0-4B42-4DDF-954B-414C81222AFA}" srcOrd="0" destOrd="0" presId="urn:microsoft.com/office/officeart/2005/8/layout/cycle4"/>
    <dgm:cxn modelId="{B41629F5-8B8D-4FFF-AC38-87E748FE811C}" type="presOf" srcId="{0958629C-BB41-4150-9107-9F722A7DF039}" destId="{39E186D5-ED96-4051-9D5E-9D4DC508994C}" srcOrd="1" destOrd="3" presId="urn:microsoft.com/office/officeart/2005/8/layout/cycle4"/>
    <dgm:cxn modelId="{CBCAE8F7-F969-4CB4-BEBE-BFF7DF58236C}" type="presOf" srcId="{3E65A6CC-5837-4625-B55C-06AA3A59EDD5}" destId="{55743305-AEBB-4DB7-9A97-641B80BB9491}" srcOrd="0" destOrd="1" presId="urn:microsoft.com/office/officeart/2005/8/layout/cycle4"/>
    <dgm:cxn modelId="{98593DFB-EEAF-433C-B49D-BD4442872A7F}" type="presOf" srcId="{50FB32E6-AC20-401D-9827-B828BD966FAA}" destId="{F279DD42-F436-46B2-A88F-1787974D0FB6}" srcOrd="0" destOrd="0" presId="urn:microsoft.com/office/officeart/2005/8/layout/cycle4"/>
    <dgm:cxn modelId="{4D6499FD-BAD7-45C0-9E7A-168EDBC991AD}" type="presOf" srcId="{F2A327EA-31E8-4A8E-8142-5A7F33009DD0}" destId="{08B5B9A6-C70E-42C7-A069-302F49D399BD}" srcOrd="0" destOrd="2" presId="urn:microsoft.com/office/officeart/2005/8/layout/cycle4"/>
    <dgm:cxn modelId="{E388F605-EF2B-4D57-9109-05FD603B35A4}" type="presParOf" srcId="{F279DD42-F436-46B2-A88F-1787974D0FB6}" destId="{7B0DE12D-AE72-445D-8627-72B6C089CA92}" srcOrd="0" destOrd="0" presId="urn:microsoft.com/office/officeart/2005/8/layout/cycle4"/>
    <dgm:cxn modelId="{E2FED1D4-2EF5-4672-972F-4E68890532C8}" type="presParOf" srcId="{7B0DE12D-AE72-445D-8627-72B6C089CA92}" destId="{BF8F3566-9493-4F75-BA19-1A1C3950D85D}" srcOrd="0" destOrd="0" presId="urn:microsoft.com/office/officeart/2005/8/layout/cycle4"/>
    <dgm:cxn modelId="{CD37DED4-E6B4-4EC7-866F-99B3D597DD64}" type="presParOf" srcId="{BF8F3566-9493-4F75-BA19-1A1C3950D85D}" destId="{08B5B9A6-C70E-42C7-A069-302F49D399BD}" srcOrd="0" destOrd="0" presId="urn:microsoft.com/office/officeart/2005/8/layout/cycle4"/>
    <dgm:cxn modelId="{FB6E866E-8E38-4086-A790-C1782E3B0A84}" type="presParOf" srcId="{BF8F3566-9493-4F75-BA19-1A1C3950D85D}" destId="{39E186D5-ED96-4051-9D5E-9D4DC508994C}" srcOrd="1" destOrd="0" presId="urn:microsoft.com/office/officeart/2005/8/layout/cycle4"/>
    <dgm:cxn modelId="{0F09C08E-99E8-4277-86A3-257114325151}" type="presParOf" srcId="{7B0DE12D-AE72-445D-8627-72B6C089CA92}" destId="{D9420081-D340-468B-A20C-13EFA2AA91D7}" srcOrd="1" destOrd="0" presId="urn:microsoft.com/office/officeart/2005/8/layout/cycle4"/>
    <dgm:cxn modelId="{0736F4BC-49A4-4E8C-B63E-704B375A5A6B}" type="presParOf" srcId="{D9420081-D340-468B-A20C-13EFA2AA91D7}" destId="{FA9FCBED-877A-49F4-B211-67E9E990F67C}" srcOrd="0" destOrd="0" presId="urn:microsoft.com/office/officeart/2005/8/layout/cycle4"/>
    <dgm:cxn modelId="{E2AFAFF2-83AE-40A0-8F91-48F23C49CA56}" type="presParOf" srcId="{D9420081-D340-468B-A20C-13EFA2AA91D7}" destId="{CD03EC0B-6ECF-4E62-AA75-5EC7F2A564DC}" srcOrd="1" destOrd="0" presId="urn:microsoft.com/office/officeart/2005/8/layout/cycle4"/>
    <dgm:cxn modelId="{E790FE03-98B4-47B5-9DAE-1A5651F809F5}" type="presParOf" srcId="{7B0DE12D-AE72-445D-8627-72B6C089CA92}" destId="{EFD9796A-EAC0-4FA7-904D-39612EAB15A0}" srcOrd="2" destOrd="0" presId="urn:microsoft.com/office/officeart/2005/8/layout/cycle4"/>
    <dgm:cxn modelId="{2CE7D7C2-0498-4ADD-81DF-2CFEEAC61C2B}" type="presParOf" srcId="{EFD9796A-EAC0-4FA7-904D-39612EAB15A0}" destId="{0F79F93A-CC44-43A5-A38A-1D776A75C535}" srcOrd="0" destOrd="0" presId="urn:microsoft.com/office/officeart/2005/8/layout/cycle4"/>
    <dgm:cxn modelId="{ECC1446B-2B33-4FC7-B650-2AB7E1631943}" type="presParOf" srcId="{EFD9796A-EAC0-4FA7-904D-39612EAB15A0}" destId="{697F7CBC-4525-4646-8976-427862FC60D2}" srcOrd="1" destOrd="0" presId="urn:microsoft.com/office/officeart/2005/8/layout/cycle4"/>
    <dgm:cxn modelId="{997FBE43-B815-4A57-8258-49552BBAB7A6}" type="presParOf" srcId="{7B0DE12D-AE72-445D-8627-72B6C089CA92}" destId="{CE9FCD9E-C3E2-4EF3-AB84-4A67DA71F9A7}" srcOrd="3" destOrd="0" presId="urn:microsoft.com/office/officeart/2005/8/layout/cycle4"/>
    <dgm:cxn modelId="{A34C5C7F-C9A3-4BB2-B09D-4FB479F890A6}" type="presParOf" srcId="{CE9FCD9E-C3E2-4EF3-AB84-4A67DA71F9A7}" destId="{55743305-AEBB-4DB7-9A97-641B80BB9491}" srcOrd="0" destOrd="0" presId="urn:microsoft.com/office/officeart/2005/8/layout/cycle4"/>
    <dgm:cxn modelId="{E025CCCE-CA29-4401-8F37-25A8CB93FBD4}" type="presParOf" srcId="{CE9FCD9E-C3E2-4EF3-AB84-4A67DA71F9A7}" destId="{6D4D95A0-DD08-4C10-B745-2E1BE5F7E377}" srcOrd="1" destOrd="0" presId="urn:microsoft.com/office/officeart/2005/8/layout/cycle4"/>
    <dgm:cxn modelId="{F35B1B58-D1C8-46D6-ABAF-6D796CE7BB2E}" type="presParOf" srcId="{7B0DE12D-AE72-445D-8627-72B6C089CA92}" destId="{913FED05-5009-4D3A-BBE0-0870A56E9273}" srcOrd="4" destOrd="0" presId="urn:microsoft.com/office/officeart/2005/8/layout/cycle4"/>
    <dgm:cxn modelId="{C388E988-C66E-4C2A-A833-7DD79BE7D7CB}" type="presParOf" srcId="{F279DD42-F436-46B2-A88F-1787974D0FB6}" destId="{C1DE0F86-5007-42A2-87CF-6310F33BA258}" srcOrd="1" destOrd="0" presId="urn:microsoft.com/office/officeart/2005/8/layout/cycle4"/>
    <dgm:cxn modelId="{9C67B8A6-0C23-4BB4-8B13-E8EF8E59D6B8}" type="presParOf" srcId="{C1DE0F86-5007-42A2-87CF-6310F33BA258}" destId="{18160B53-9426-4F81-80D3-63D84A84997C}" srcOrd="0" destOrd="0" presId="urn:microsoft.com/office/officeart/2005/8/layout/cycle4"/>
    <dgm:cxn modelId="{9B1F43E1-13DE-4EFC-83C0-2EF0112B4363}" type="presParOf" srcId="{C1DE0F86-5007-42A2-87CF-6310F33BA258}" destId="{B034E7C0-63DE-44E5-94FF-DA645A616243}" srcOrd="1" destOrd="0" presId="urn:microsoft.com/office/officeart/2005/8/layout/cycle4"/>
    <dgm:cxn modelId="{DED2EB1A-37B0-4476-8192-CC199D258621}" type="presParOf" srcId="{C1DE0F86-5007-42A2-87CF-6310F33BA258}" destId="{5DF914F0-4B42-4DDF-954B-414C81222AFA}" srcOrd="2" destOrd="0" presId="urn:microsoft.com/office/officeart/2005/8/layout/cycle4"/>
    <dgm:cxn modelId="{FB6B5280-8E45-4A0C-8AAA-E6626014F579}" type="presParOf" srcId="{C1DE0F86-5007-42A2-87CF-6310F33BA258}" destId="{E5EC0848-C060-4EB4-A207-2A086CD3F8A9}" srcOrd="3" destOrd="0" presId="urn:microsoft.com/office/officeart/2005/8/layout/cycle4"/>
    <dgm:cxn modelId="{9934BA29-75C6-482E-8C28-51D3E070E376}" type="presParOf" srcId="{C1DE0F86-5007-42A2-87CF-6310F33BA258}" destId="{C0312E25-A55C-4CCF-A24E-6FF278B4ED8F}" srcOrd="4" destOrd="0" presId="urn:microsoft.com/office/officeart/2005/8/layout/cycle4"/>
    <dgm:cxn modelId="{77C5828D-1D49-4EC2-8DB0-FF13DFE78A7B}" type="presParOf" srcId="{F279DD42-F436-46B2-A88F-1787974D0FB6}" destId="{6D05A41C-4EF8-4A6C-B306-DF41AA8527FD}" srcOrd="2" destOrd="0" presId="urn:microsoft.com/office/officeart/2005/8/layout/cycle4"/>
    <dgm:cxn modelId="{A1419209-90D4-49F1-88CA-776A017A0DA7}" type="presParOf" srcId="{F279DD42-F436-46B2-A88F-1787974D0FB6}" destId="{F10ACD7D-332E-4CD1-BBF5-2C77A6022DB5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47A9E89-4BE3-4342-9E97-6FFF6D60EBE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6399B37-8C65-471D-88CA-51208F7758CE}">
      <dgm:prSet/>
      <dgm:spPr/>
      <dgm:t>
        <a:bodyPr/>
        <a:lstStyle/>
        <a:p>
          <a:pPr algn="ctr"/>
          <a:r>
            <a:rPr lang="en-IN" dirty="0"/>
            <a:t>Charger Type &amp; ROI</a:t>
          </a:r>
        </a:p>
      </dgm:t>
    </dgm:pt>
    <dgm:pt modelId="{AB20827E-A094-4CBC-B144-51CC03EC5EE2}" type="parTrans" cxnId="{82C97FD8-DF5F-4318-892B-FD3225ACDF4D}">
      <dgm:prSet/>
      <dgm:spPr/>
      <dgm:t>
        <a:bodyPr/>
        <a:lstStyle/>
        <a:p>
          <a:endParaRPr lang="en-IN"/>
        </a:p>
      </dgm:t>
    </dgm:pt>
    <dgm:pt modelId="{70418551-022A-478C-8E0A-B9988087F31E}" type="sibTrans" cxnId="{82C97FD8-DF5F-4318-892B-FD3225ACDF4D}">
      <dgm:prSet/>
      <dgm:spPr/>
      <dgm:t>
        <a:bodyPr/>
        <a:lstStyle/>
        <a:p>
          <a:endParaRPr lang="en-IN"/>
        </a:p>
      </dgm:t>
    </dgm:pt>
    <dgm:pt modelId="{671713A2-AB4B-4C28-BF6C-126B8913E07A}" type="pres">
      <dgm:prSet presAssocID="{447A9E89-4BE3-4342-9E97-6FFF6D60EBED}" presName="linear" presStyleCnt="0">
        <dgm:presLayoutVars>
          <dgm:animLvl val="lvl"/>
          <dgm:resizeHandles val="exact"/>
        </dgm:presLayoutVars>
      </dgm:prSet>
      <dgm:spPr/>
    </dgm:pt>
    <dgm:pt modelId="{A902E321-D511-47E4-9CB1-DDEEEAD22596}" type="pres">
      <dgm:prSet presAssocID="{D6399B37-8C65-471D-88CA-51208F7758C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C94752C-7311-416C-B4BE-2F3D1F7E6946}" type="presOf" srcId="{D6399B37-8C65-471D-88CA-51208F7758CE}" destId="{A902E321-D511-47E4-9CB1-DDEEEAD22596}" srcOrd="0" destOrd="0" presId="urn:microsoft.com/office/officeart/2005/8/layout/vList2"/>
    <dgm:cxn modelId="{3E827189-A049-4C81-AC2E-FE8B6D146258}" type="presOf" srcId="{447A9E89-4BE3-4342-9E97-6FFF6D60EBED}" destId="{671713A2-AB4B-4C28-BF6C-126B8913E07A}" srcOrd="0" destOrd="0" presId="urn:microsoft.com/office/officeart/2005/8/layout/vList2"/>
    <dgm:cxn modelId="{82C97FD8-DF5F-4318-892B-FD3225ACDF4D}" srcId="{447A9E89-4BE3-4342-9E97-6FFF6D60EBED}" destId="{D6399B37-8C65-471D-88CA-51208F7758CE}" srcOrd="0" destOrd="0" parTransId="{AB20827E-A094-4CBC-B144-51CC03EC5EE2}" sibTransId="{70418551-022A-478C-8E0A-B9988087F31E}"/>
    <dgm:cxn modelId="{4DCD964F-A65E-4933-BE90-15A0C8CA1A6C}" type="presParOf" srcId="{671713A2-AB4B-4C28-BF6C-126B8913E07A}" destId="{A902E321-D511-47E4-9CB1-DDEEEAD2259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7BC96-9107-4CDA-98FE-842340759D7C}">
      <dsp:nvSpPr>
        <dsp:cNvPr id="0" name=""/>
        <dsp:cNvSpPr/>
      </dsp:nvSpPr>
      <dsp:spPr>
        <a:xfrm rot="10800000" flipV="1">
          <a:off x="0" y="0"/>
          <a:ext cx="8321040" cy="7465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End-to-End EV Charger Setup &amp; Support</a:t>
          </a:r>
          <a:endParaRPr lang="en-IN" sz="3200" kern="1200" dirty="0"/>
        </a:p>
      </dsp:txBody>
      <dsp:txXfrm rot="-10800000">
        <a:off x="36443" y="36443"/>
        <a:ext cx="8248154" cy="6736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4EA92-3D83-4DF7-BD4B-026A1707C608}">
      <dsp:nvSpPr>
        <dsp:cNvPr id="0" name=""/>
        <dsp:cNvSpPr/>
      </dsp:nvSpPr>
      <dsp:spPr>
        <a:xfrm>
          <a:off x="0" y="149034"/>
          <a:ext cx="8407181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Requirements to setup EV charging station/Hub</a:t>
          </a:r>
          <a:endParaRPr lang="en-US" sz="2900" kern="1200" dirty="0"/>
        </a:p>
      </dsp:txBody>
      <dsp:txXfrm>
        <a:off x="33127" y="182161"/>
        <a:ext cx="8340927" cy="612346"/>
      </dsp:txXfrm>
    </dsp:sp>
    <dsp:sp modelId="{1888A2BC-4CBB-43F6-ADC7-3CB5C68B1B36}">
      <dsp:nvSpPr>
        <dsp:cNvPr id="0" name=""/>
        <dsp:cNvSpPr/>
      </dsp:nvSpPr>
      <dsp:spPr>
        <a:xfrm>
          <a:off x="0" y="822359"/>
          <a:ext cx="8407181" cy="1740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928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6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 dirty="0"/>
            <a:t>Land (Rent/Lease/Own) 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 dirty="0"/>
            <a:t>Electricity 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 dirty="0"/>
            <a:t>Water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 dirty="0"/>
            <a:t>Investment</a:t>
          </a:r>
          <a:endParaRPr lang="en-US" sz="2300" kern="1200" dirty="0"/>
        </a:p>
      </dsp:txBody>
      <dsp:txXfrm>
        <a:off x="0" y="822359"/>
        <a:ext cx="8407181" cy="17408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79F93A-CC44-43A5-A38A-1D776A75C535}">
      <dsp:nvSpPr>
        <dsp:cNvPr id="0" name=""/>
        <dsp:cNvSpPr/>
      </dsp:nvSpPr>
      <dsp:spPr>
        <a:xfrm>
          <a:off x="5936365" y="3501280"/>
          <a:ext cx="2543577" cy="16476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4039423"/>
              <a:satOff val="24360"/>
              <a:lumOff val="-147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600" kern="1200" dirty="0">
              <a:solidFill>
                <a:schemeClr val="accent2"/>
              </a:solidFill>
            </a:rPr>
            <a:t>Highways &amp; Fuel Stations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600" kern="1200" dirty="0">
              <a:solidFill>
                <a:schemeClr val="accent2"/>
              </a:solidFill>
            </a:rPr>
            <a:t>Residential Communities</a:t>
          </a:r>
        </a:p>
      </dsp:txBody>
      <dsp:txXfrm>
        <a:off x="6735632" y="3949389"/>
        <a:ext cx="1708116" cy="1163358"/>
      </dsp:txXfrm>
    </dsp:sp>
    <dsp:sp modelId="{55743305-AEBB-4DB7-9A97-641B80BB9491}">
      <dsp:nvSpPr>
        <dsp:cNvPr id="0" name=""/>
        <dsp:cNvSpPr/>
      </dsp:nvSpPr>
      <dsp:spPr>
        <a:xfrm>
          <a:off x="1035403" y="3575178"/>
          <a:ext cx="3126310" cy="14998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6059134"/>
              <a:satOff val="36540"/>
              <a:lumOff val="-221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>
              <a:solidFill>
                <a:schemeClr val="accent1"/>
              </a:solidFill>
            </a:rPr>
            <a:t>Charge point Operators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>
              <a:solidFill>
                <a:schemeClr val="accent1"/>
              </a:solidFill>
            </a:rPr>
            <a:t>Dealership and partners</a:t>
          </a:r>
        </a:p>
      </dsp:txBody>
      <dsp:txXfrm>
        <a:off x="1068350" y="3983091"/>
        <a:ext cx="2122523" cy="1059005"/>
      </dsp:txXfrm>
    </dsp:sp>
    <dsp:sp modelId="{FA9FCBED-877A-49F4-B211-67E9E990F67C}">
      <dsp:nvSpPr>
        <dsp:cNvPr id="0" name=""/>
        <dsp:cNvSpPr/>
      </dsp:nvSpPr>
      <dsp:spPr>
        <a:xfrm>
          <a:off x="5949083" y="0"/>
          <a:ext cx="2543577" cy="16476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2019711"/>
              <a:satOff val="12180"/>
              <a:lumOff val="-73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chemeClr val="accent3">
                  <a:lumMod val="50000"/>
                </a:schemeClr>
              </a:solidFill>
            </a:rPr>
            <a:t>Corporate Offices</a:t>
          </a:r>
          <a:endParaRPr lang="en-IN" sz="1600" kern="1200" dirty="0">
            <a:solidFill>
              <a:schemeClr val="accent3">
                <a:lumMod val="50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chemeClr val="accent3">
                  <a:lumMod val="50000"/>
                </a:schemeClr>
              </a:solidFill>
            </a:rPr>
            <a:t>Parking Operators</a:t>
          </a:r>
          <a:endParaRPr lang="en-IN" sz="1600" kern="1200" dirty="0">
            <a:solidFill>
              <a:schemeClr val="accent3">
                <a:lumMod val="50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chemeClr val="accent3">
                  <a:lumMod val="50000"/>
                </a:schemeClr>
              </a:solidFill>
            </a:rPr>
            <a:t>Public Charging Networks</a:t>
          </a:r>
          <a:endParaRPr lang="en-IN" sz="1600" kern="1200" dirty="0">
            <a:solidFill>
              <a:schemeClr val="accent3">
                <a:lumMod val="50000"/>
              </a:schemeClr>
            </a:solidFill>
          </a:endParaRPr>
        </a:p>
      </dsp:txBody>
      <dsp:txXfrm>
        <a:off x="6748350" y="36194"/>
        <a:ext cx="1708116" cy="1163358"/>
      </dsp:txXfrm>
    </dsp:sp>
    <dsp:sp modelId="{08B5B9A6-C70E-42C7-A069-302F49D399BD}">
      <dsp:nvSpPr>
        <dsp:cNvPr id="0" name=""/>
        <dsp:cNvSpPr/>
      </dsp:nvSpPr>
      <dsp:spPr>
        <a:xfrm>
          <a:off x="964971" y="0"/>
          <a:ext cx="3267174" cy="16476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chemeClr val="accent1">
                  <a:lumMod val="75000"/>
                </a:schemeClr>
              </a:solidFill>
            </a:rPr>
            <a:t>Commercial Buildings</a:t>
          </a:r>
          <a:endParaRPr lang="en-IN" sz="1600" kern="1200" dirty="0">
            <a:solidFill>
              <a:schemeClr val="accent1">
                <a:lumMod val="75000"/>
              </a:schemeClr>
            </a:solidFill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chemeClr val="accent1">
                  <a:lumMod val="75000"/>
                </a:schemeClr>
              </a:solidFill>
            </a:rPr>
            <a:t>Fleet Operators</a:t>
          </a:r>
          <a:endParaRPr lang="en-IN" sz="1600" kern="1200" dirty="0">
            <a:solidFill>
              <a:schemeClr val="accent1">
                <a:lumMod val="75000"/>
              </a:schemeClr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chemeClr val="accent1">
                  <a:lumMod val="75000"/>
                </a:schemeClr>
              </a:solidFill>
            </a:rPr>
            <a:t>Malls &amp; Retail   </a:t>
          </a:r>
          <a:endParaRPr lang="en-IN" sz="1600" kern="1200" dirty="0">
            <a:solidFill>
              <a:schemeClr val="accent1">
                <a:lumMod val="75000"/>
              </a:schemeClr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600" kern="1200" dirty="0">
              <a:solidFill>
                <a:schemeClr val="accent1">
                  <a:lumMod val="75000"/>
                </a:schemeClr>
              </a:solidFill>
            </a:rPr>
            <a:t> Spaces</a:t>
          </a:r>
          <a:endParaRPr lang="en-IN" sz="1600" kern="1200" dirty="0">
            <a:solidFill>
              <a:schemeClr val="accent1">
                <a:lumMod val="75000"/>
              </a:schemeClr>
            </a:solidFill>
          </a:endParaRPr>
        </a:p>
      </dsp:txBody>
      <dsp:txXfrm>
        <a:off x="1001165" y="36194"/>
        <a:ext cx="2214633" cy="1163358"/>
      </dsp:txXfrm>
    </dsp:sp>
    <dsp:sp modelId="{18160B53-9426-4F81-80D3-63D84A84997C}">
      <dsp:nvSpPr>
        <dsp:cNvPr id="0" name=""/>
        <dsp:cNvSpPr/>
      </dsp:nvSpPr>
      <dsp:spPr>
        <a:xfrm>
          <a:off x="2211702" y="293489"/>
          <a:ext cx="2229491" cy="2229491"/>
        </a:xfrm>
        <a:prstGeom prst="pieWedg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B2B</a:t>
          </a:r>
        </a:p>
      </dsp:txBody>
      <dsp:txXfrm>
        <a:off x="2864705" y="946492"/>
        <a:ext cx="1576488" cy="1576488"/>
      </dsp:txXfrm>
    </dsp:sp>
    <dsp:sp modelId="{B034E7C0-63DE-44E5-94FF-DA645A616243}">
      <dsp:nvSpPr>
        <dsp:cNvPr id="0" name=""/>
        <dsp:cNvSpPr/>
      </dsp:nvSpPr>
      <dsp:spPr>
        <a:xfrm rot="5400000">
          <a:off x="4544172" y="293489"/>
          <a:ext cx="2229491" cy="2229491"/>
        </a:xfrm>
        <a:prstGeom prst="pieWedge">
          <a:avLst/>
        </a:prstGeom>
        <a:solidFill>
          <a:schemeClr val="accent3">
            <a:hueOff val="2019711"/>
            <a:satOff val="12180"/>
            <a:lumOff val="-738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B2C</a:t>
          </a:r>
        </a:p>
      </dsp:txBody>
      <dsp:txXfrm rot="-5400000">
        <a:off x="4544172" y="946492"/>
        <a:ext cx="1576488" cy="1576488"/>
      </dsp:txXfrm>
    </dsp:sp>
    <dsp:sp modelId="{5DF914F0-4B42-4DDF-954B-414C81222AFA}">
      <dsp:nvSpPr>
        <dsp:cNvPr id="0" name=""/>
        <dsp:cNvSpPr/>
      </dsp:nvSpPr>
      <dsp:spPr>
        <a:xfrm rot="10800000">
          <a:off x="4544172" y="2625960"/>
          <a:ext cx="2229491" cy="2229491"/>
        </a:xfrm>
        <a:prstGeom prst="pieWedge">
          <a:avLst/>
        </a:prstGeom>
        <a:solidFill>
          <a:schemeClr val="accent3">
            <a:hueOff val="4039423"/>
            <a:satOff val="24360"/>
            <a:lumOff val="-1477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Direct Sales</a:t>
          </a:r>
        </a:p>
      </dsp:txBody>
      <dsp:txXfrm rot="10800000">
        <a:off x="4544172" y="2625960"/>
        <a:ext cx="1576488" cy="1576488"/>
      </dsp:txXfrm>
    </dsp:sp>
    <dsp:sp modelId="{E5EC0848-C060-4EB4-A207-2A086CD3F8A9}">
      <dsp:nvSpPr>
        <dsp:cNvPr id="0" name=""/>
        <dsp:cNvSpPr/>
      </dsp:nvSpPr>
      <dsp:spPr>
        <a:xfrm rot="16200000">
          <a:off x="2211702" y="2625960"/>
          <a:ext cx="2229491" cy="2229491"/>
        </a:xfrm>
        <a:prstGeom prst="pieWedge">
          <a:avLst/>
        </a:prstGeom>
        <a:solidFill>
          <a:schemeClr val="accent3">
            <a:lumMod val="7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CPO &amp; Dealers</a:t>
          </a:r>
        </a:p>
      </dsp:txBody>
      <dsp:txXfrm rot="5400000">
        <a:off x="2864705" y="2625960"/>
        <a:ext cx="1576488" cy="1576488"/>
      </dsp:txXfrm>
    </dsp:sp>
    <dsp:sp modelId="{6D05A41C-4EF8-4A6C-B306-DF41AA8527FD}">
      <dsp:nvSpPr>
        <dsp:cNvPr id="0" name=""/>
        <dsp:cNvSpPr/>
      </dsp:nvSpPr>
      <dsp:spPr>
        <a:xfrm>
          <a:off x="4107800" y="2111066"/>
          <a:ext cx="769766" cy="669362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0ACD7D-332E-4CD1-BBF5-2C77A6022DB5}">
      <dsp:nvSpPr>
        <dsp:cNvPr id="0" name=""/>
        <dsp:cNvSpPr/>
      </dsp:nvSpPr>
      <dsp:spPr>
        <a:xfrm rot="10999851">
          <a:off x="4094286" y="2383262"/>
          <a:ext cx="779027" cy="639863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02E321-D511-47E4-9CB1-DDEEEAD22596}">
      <dsp:nvSpPr>
        <dsp:cNvPr id="0" name=""/>
        <dsp:cNvSpPr/>
      </dsp:nvSpPr>
      <dsp:spPr>
        <a:xfrm>
          <a:off x="0" y="32"/>
          <a:ext cx="6780107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Charger Type &amp; ROI</a:t>
          </a:r>
        </a:p>
      </dsp:txBody>
      <dsp:txXfrm>
        <a:off x="27415" y="27447"/>
        <a:ext cx="6725277" cy="506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65452F-0795-487E-96AA-A0304B4713E5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A55F34-D7C1-40A2-A0DE-9D9ECE976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504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55F34-D7C1-40A2-A0DE-9D9ECE976DA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379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22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759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33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457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88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03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23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592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46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680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5420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516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9357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163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970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17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B2654-E7BE-49CD-8F03-21DFFE54464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75C061C-51A5-4ECA-9085-7A96E6C08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912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altarbyte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11.jpeg"/><Relationship Id="rId7" Type="http://schemas.openxmlformats.org/officeDocument/2006/relationships/diagramLayout" Target="../diagrams/layout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2.xml"/><Relationship Id="rId11" Type="http://schemas.openxmlformats.org/officeDocument/2006/relationships/image" Target="../media/image4.png"/><Relationship Id="rId5" Type="http://schemas.openxmlformats.org/officeDocument/2006/relationships/image" Target="../media/image13.jpeg"/><Relationship Id="rId10" Type="http://schemas.microsoft.com/office/2007/relationships/diagramDrawing" Target="../diagrams/drawing2.xml"/><Relationship Id="rId4" Type="http://schemas.openxmlformats.org/officeDocument/2006/relationships/image" Target="../media/image12.jpeg"/><Relationship Id="rId9" Type="http://schemas.openxmlformats.org/officeDocument/2006/relationships/diagramColors" Target="../diagrams/colors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69D4DE-919E-3124-9C5A-E558C2C9D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9669" y="6222888"/>
            <a:ext cx="7236069" cy="449945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FF00"/>
                </a:solidFill>
              </a:rPr>
              <a:t>www.altarbyte</a:t>
            </a:r>
            <a:r>
              <a:rPr lang="en-IN" dirty="0">
                <a:solidFill>
                  <a:srgbClr val="FF00FF"/>
                </a:solidFill>
              </a:rPr>
              <a:t>.com 	</a:t>
            </a:r>
            <a:r>
              <a:rPr lang="en-IN" dirty="0"/>
              <a:t>T-HUB 	Hyderabad ,Telangana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247B6-1235-4956-DFF7-CF259D345E49}"/>
              </a:ext>
            </a:extLst>
          </p:cNvPr>
          <p:cNvSpPr txBox="1"/>
          <p:nvPr/>
        </p:nvSpPr>
        <p:spPr>
          <a:xfrm>
            <a:off x="630449" y="1659692"/>
            <a:ext cx="9856178" cy="44012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/>
                </a:solidFill>
              </a:rPr>
              <a:t>Email: </a:t>
            </a:r>
            <a:r>
              <a:rPr lang="en-IN" sz="1600" dirty="0">
                <a:solidFill>
                  <a:schemeClr val="tx1"/>
                </a:solidFill>
              </a:rPr>
              <a:t>altarbytei@gmail.com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b="1" dirty="0">
                <a:solidFill>
                  <a:schemeClr val="tx1"/>
                </a:solidFill>
              </a:rPr>
              <a:t>Website: </a:t>
            </a:r>
            <a:r>
              <a:rPr lang="en-IN" sz="1600" dirty="0">
                <a:solidFill>
                  <a:srgbClr val="FF00FF"/>
                </a:solidFill>
                <a:hlinkClick r:id="rId2"/>
              </a:rPr>
              <a:t>https://www.altarbyte.com</a:t>
            </a:r>
            <a:r>
              <a:rPr lang="en-IN" sz="1600" dirty="0">
                <a:solidFill>
                  <a:srgbClr val="FF00FF"/>
                </a:solidFill>
              </a:rPr>
              <a:t> </a:t>
            </a:r>
          </a:p>
          <a:p>
            <a:r>
              <a:rPr lang="en-IN" sz="1600" b="1" dirty="0">
                <a:solidFill>
                  <a:schemeClr val="tx1"/>
                </a:solidFill>
              </a:rPr>
              <a:t>Company Address: </a:t>
            </a:r>
            <a:r>
              <a:rPr lang="en-IN" sz="1600" dirty="0">
                <a:solidFill>
                  <a:schemeClr val="tx1"/>
                </a:solidFill>
              </a:rPr>
              <a:t>T-Hub Plot No 1/C, Sy No 83/1, </a:t>
            </a:r>
            <a:r>
              <a:rPr lang="en-IN" sz="1600" dirty="0" err="1">
                <a:solidFill>
                  <a:schemeClr val="tx1"/>
                </a:solidFill>
              </a:rPr>
              <a:t>Raidurgam</a:t>
            </a:r>
            <a:r>
              <a:rPr lang="en-IN" sz="1600" dirty="0">
                <a:solidFill>
                  <a:schemeClr val="tx1"/>
                </a:solidFill>
              </a:rPr>
              <a:t>, Knowledge City Rd,</a:t>
            </a:r>
          </a:p>
          <a:p>
            <a:r>
              <a:rPr lang="en-IN" sz="1600" dirty="0">
                <a:solidFill>
                  <a:schemeClr val="tx1"/>
                </a:solidFill>
              </a:rPr>
              <a:t> </a:t>
            </a:r>
            <a:r>
              <a:rPr lang="en-IN" sz="1600" dirty="0" err="1">
                <a:solidFill>
                  <a:schemeClr val="tx1"/>
                </a:solidFill>
              </a:rPr>
              <a:t>panmaktha</a:t>
            </a:r>
            <a:r>
              <a:rPr lang="en-IN" sz="1600" dirty="0">
                <a:solidFill>
                  <a:schemeClr val="tx1"/>
                </a:solidFill>
              </a:rPr>
              <a:t>, Hyderabad, </a:t>
            </a:r>
            <a:r>
              <a:rPr lang="en-IN" sz="1600" dirty="0" err="1">
                <a:solidFill>
                  <a:schemeClr val="tx1"/>
                </a:solidFill>
              </a:rPr>
              <a:t>Serilingampalle</a:t>
            </a:r>
            <a:r>
              <a:rPr lang="en-IN" sz="1600" dirty="0">
                <a:solidFill>
                  <a:schemeClr val="tx1"/>
                </a:solidFill>
              </a:rPr>
              <a:t> (M), Telangana 500032 </a:t>
            </a:r>
          </a:p>
          <a:p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Driving The Future Of Sustainable Mobility</a:t>
            </a:r>
          </a:p>
          <a:p>
            <a:endParaRPr lang="en-US" b="1" dirty="0">
              <a:solidFill>
                <a:srgbClr val="00B050"/>
              </a:solidFill>
            </a:endParaRPr>
          </a:p>
          <a:p>
            <a:r>
              <a:rPr lang="en-US" dirty="0"/>
              <a:t>Founded with a vision to revolutionize India's transportation ecosystem, </a:t>
            </a:r>
            <a:r>
              <a:rPr lang="en-US" dirty="0" err="1"/>
              <a:t>Altarbyte</a:t>
            </a:r>
            <a:r>
              <a:rPr lang="en-US" dirty="0"/>
              <a:t> is building the country's most comprehensive and intelligent EV charging infrastructure.</a:t>
            </a:r>
          </a:p>
          <a:p>
            <a:br>
              <a:rPr lang="en-US" dirty="0"/>
            </a:br>
            <a:r>
              <a:rPr lang="en-US" dirty="0"/>
              <a:t>We understand that the transition to electric mobility requires more than just hardware—it demands a complete ecosystem of smart software, reliable support, and seamless user experiences.</a:t>
            </a:r>
          </a:p>
          <a:p>
            <a:r>
              <a:rPr lang="en-US" dirty="0"/>
              <a:t>Our team of passionate engineers, designers, and sustainability advocates work tirelessly to make EV charging as natural as refueling has been for generations.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D14E0F-8C21-C0F3-B9FC-36D886BCB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578" y="114831"/>
            <a:ext cx="4888775" cy="122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64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CA208E3-8F84-23C3-A4ED-22164C72AE4B}"/>
              </a:ext>
            </a:extLst>
          </p:cNvPr>
          <p:cNvSpPr txBox="1">
            <a:spLocks/>
          </p:cNvSpPr>
          <p:nvPr/>
        </p:nvSpPr>
        <p:spPr>
          <a:xfrm>
            <a:off x="564618" y="397487"/>
            <a:ext cx="8596668" cy="70924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Meet The Team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971A9B1-12B5-38AD-C022-CE1074DF9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44" y="1308427"/>
            <a:ext cx="1662967" cy="221728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4A52855-A199-A2B0-BEBD-3A6825AC270B}"/>
              </a:ext>
            </a:extLst>
          </p:cNvPr>
          <p:cNvSpPr txBox="1">
            <a:spLocks/>
          </p:cNvSpPr>
          <p:nvPr/>
        </p:nvSpPr>
        <p:spPr>
          <a:xfrm>
            <a:off x="2504545" y="1229299"/>
            <a:ext cx="4185623" cy="36918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200" b="1" dirty="0"/>
              <a:t>Anvesh Thodupunuri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4069C84-2D2E-0253-D864-D518D0C24956}"/>
              </a:ext>
            </a:extLst>
          </p:cNvPr>
          <p:cNvSpPr txBox="1">
            <a:spLocks/>
          </p:cNvSpPr>
          <p:nvPr/>
        </p:nvSpPr>
        <p:spPr>
          <a:xfrm>
            <a:off x="2511039" y="1712780"/>
            <a:ext cx="7257844" cy="18597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Founder &amp; CEO</a:t>
            </a:r>
          </a:p>
          <a:p>
            <a:r>
              <a:rPr lang="en-US" dirty="0"/>
              <a:t>Visionary leader driving India's EV revolution with a mission to make sustainable mobility accessible to all.</a:t>
            </a:r>
          </a:p>
          <a:p>
            <a:r>
              <a:rPr lang="en-US" dirty="0"/>
              <a:t> With over 5 years of experience in clean energy and technology, Anvesh founded </a:t>
            </a:r>
            <a:r>
              <a:rPr lang="en-US" dirty="0" err="1"/>
              <a:t>Altarbyte</a:t>
            </a:r>
            <a:r>
              <a:rPr lang="en-US" dirty="0"/>
              <a:t> to accelerate the transition to electric transportation.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5341F9-CFF3-1A58-AF46-117A0EACB2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1" t="3310" r="8993" b="14693"/>
          <a:stretch>
            <a:fillRect/>
          </a:stretch>
        </p:blipFill>
        <p:spPr>
          <a:xfrm>
            <a:off x="497241" y="4053255"/>
            <a:ext cx="1681469" cy="2114121"/>
          </a:xfrm>
          <a:prstGeom prst="rect">
            <a:avLst/>
          </a:prstGeom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ACC8DC5-19E3-8D2F-1CCC-5915ABCF4EE2}"/>
              </a:ext>
            </a:extLst>
          </p:cNvPr>
          <p:cNvSpPr txBox="1">
            <a:spLocks/>
          </p:cNvSpPr>
          <p:nvPr/>
        </p:nvSpPr>
        <p:spPr>
          <a:xfrm>
            <a:off x="2504545" y="3931280"/>
            <a:ext cx="4185618" cy="57626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200" b="1" dirty="0"/>
              <a:t>Ayyangar Satalluri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54F1EADF-4344-A02C-CE1A-BE11F03D3C16}"/>
              </a:ext>
            </a:extLst>
          </p:cNvPr>
          <p:cNvSpPr txBox="1">
            <a:spLocks/>
          </p:cNvSpPr>
          <p:nvPr/>
        </p:nvSpPr>
        <p:spPr>
          <a:xfrm>
            <a:off x="2511039" y="4436919"/>
            <a:ext cx="7950028" cy="1721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Co-founder &amp; CTO</a:t>
            </a:r>
          </a:p>
          <a:p>
            <a:r>
              <a:rPr lang="en-US" dirty="0"/>
              <a:t>Technology innovator with deep expertise in IoT, embedded systems, and cloud infrastructure. </a:t>
            </a:r>
          </a:p>
          <a:p>
            <a:r>
              <a:rPr lang="en-US" dirty="0"/>
              <a:t>Ayyangar leads the engineering vision at </a:t>
            </a:r>
            <a:r>
              <a:rPr lang="en-US" dirty="0" err="1"/>
              <a:t>Altarbyte</a:t>
            </a:r>
            <a:r>
              <a:rPr lang="en-US" dirty="0"/>
              <a:t>, building the intelligent systems that power our nationwide charging network.</a:t>
            </a:r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E83D52-D3A2-FFB6-9D39-0347733D4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548" y="0"/>
            <a:ext cx="2959452" cy="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904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93A31-F360-23A9-9089-286CDEC9C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5C48AE5-B1EB-59FD-FBAA-A6EB04F73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7333" y="6207369"/>
            <a:ext cx="9144000" cy="535800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FF00"/>
                </a:solidFill>
              </a:rPr>
              <a:t>ALTAR</a:t>
            </a:r>
            <a:r>
              <a:rPr lang="en-IN" dirty="0">
                <a:solidFill>
                  <a:srgbClr val="FF00FF"/>
                </a:solidFill>
              </a:rPr>
              <a:t>BYTE 	</a:t>
            </a:r>
            <a:r>
              <a:rPr lang="en-IN" dirty="0"/>
              <a:t>T-HUB 	</a:t>
            </a:r>
            <a:r>
              <a:rPr lang="en-IN" dirty="0" err="1"/>
              <a:t>Hyderabad,Telangana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3D761-6BA9-DAED-1986-DEB45FDAEAD5}"/>
              </a:ext>
            </a:extLst>
          </p:cNvPr>
          <p:cNvSpPr txBox="1"/>
          <p:nvPr/>
        </p:nvSpPr>
        <p:spPr>
          <a:xfrm>
            <a:off x="655320" y="1408980"/>
            <a:ext cx="914400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From initial consultation to ongoing maintenance, we handle everything so you can focus on what matters most.</a:t>
            </a:r>
          </a:p>
          <a:p>
            <a:r>
              <a:rPr lang="en-US" sz="15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01</a:t>
            </a:r>
            <a:r>
              <a:rPr lang="en-US" sz="15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b="1" dirty="0">
                <a:highlight>
                  <a:srgbClr val="FF00FF"/>
                </a:highlight>
              </a:rPr>
              <a:t>Free Site Assessment</a:t>
            </a:r>
          </a:p>
          <a:p>
            <a:r>
              <a:rPr lang="en-US" sz="1500" dirty="0"/>
              <a:t>We cover end-to-end site planning and branding to get your charging locations deployment-ready.</a:t>
            </a:r>
          </a:p>
          <a:p>
            <a:endParaRPr lang="en-US" sz="1500" dirty="0"/>
          </a:p>
          <a:p>
            <a:r>
              <a:rPr lang="en-US" sz="15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02 </a:t>
            </a:r>
            <a:r>
              <a:rPr lang="en-US" sz="1500" b="1" dirty="0">
                <a:highlight>
                  <a:srgbClr val="FF00FF"/>
                </a:highlight>
              </a:rPr>
              <a:t>Execution Plan &amp; Pricing</a:t>
            </a:r>
          </a:p>
          <a:p>
            <a:r>
              <a:rPr lang="en-US" sz="1500" dirty="0"/>
              <a:t>From hardware recommendations &amp; pricing, to a full installation plan, we've got you covered.</a:t>
            </a:r>
          </a:p>
          <a:p>
            <a:endParaRPr lang="en-US" sz="1500" dirty="0"/>
          </a:p>
          <a:p>
            <a:r>
              <a:rPr lang="en-US" sz="15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03 </a:t>
            </a:r>
            <a:r>
              <a:rPr lang="en-US" sz="1500" b="1" dirty="0">
                <a:highlight>
                  <a:srgbClr val="FF00FF"/>
                </a:highlight>
              </a:rPr>
              <a:t>Charger Installation</a:t>
            </a:r>
          </a:p>
          <a:p>
            <a:r>
              <a:rPr lang="en-US" sz="1500" dirty="0"/>
              <a:t>Our certified technicians install the charger(s) and test them for safety and compliance.</a:t>
            </a:r>
          </a:p>
          <a:p>
            <a:endParaRPr lang="en-US" sz="1500" dirty="0"/>
          </a:p>
          <a:p>
            <a:r>
              <a:rPr lang="en-US" sz="15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04 </a:t>
            </a:r>
            <a:r>
              <a:rPr lang="en-US" sz="1500" b="1" dirty="0">
                <a:highlight>
                  <a:srgbClr val="FF00FF"/>
                </a:highlight>
              </a:rPr>
              <a:t>Onboarding &amp; Activation</a:t>
            </a:r>
          </a:p>
          <a:p>
            <a:r>
              <a:rPr lang="en-US" sz="1500" dirty="0"/>
              <a:t>We complete your KYC, onboard you to </a:t>
            </a:r>
            <a:r>
              <a:rPr lang="en-US" sz="1500" dirty="0" err="1"/>
              <a:t>Altarbyte</a:t>
            </a:r>
            <a:r>
              <a:rPr lang="en-US" sz="1500" dirty="0"/>
              <a:t>, and activate your chargers with CMS dashboard access.</a:t>
            </a:r>
          </a:p>
          <a:p>
            <a:endParaRPr lang="en-US" sz="1500" dirty="0"/>
          </a:p>
          <a:p>
            <a:r>
              <a:rPr lang="en-US" sz="15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05 </a:t>
            </a:r>
            <a:r>
              <a:rPr lang="en-US" sz="1500" b="1" dirty="0">
                <a:highlight>
                  <a:srgbClr val="FF00FF"/>
                </a:highlight>
              </a:rPr>
              <a:t>Service &amp; Maintenance</a:t>
            </a:r>
          </a:p>
          <a:p>
            <a:r>
              <a:rPr lang="en-US" sz="1500" dirty="0"/>
              <a:t>Regular on-site health checks, software updates, and proactive issue resolution.</a:t>
            </a:r>
          </a:p>
          <a:p>
            <a:endParaRPr lang="en-US" sz="1500" dirty="0"/>
          </a:p>
          <a:p>
            <a:r>
              <a:rPr lang="en-US" sz="15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06 </a:t>
            </a:r>
            <a:r>
              <a:rPr lang="en-US" sz="1500" b="1" dirty="0">
                <a:highlight>
                  <a:srgbClr val="FF00FF"/>
                </a:highlight>
              </a:rPr>
              <a:t>24/7 Customer Support</a:t>
            </a:r>
          </a:p>
          <a:p>
            <a:r>
              <a:rPr lang="en-US" sz="1500" dirty="0"/>
              <a:t>Our support team is available 24/7 to assist with technical queries or user concerns.</a:t>
            </a:r>
          </a:p>
          <a:p>
            <a:endParaRPr lang="en-IN" sz="1500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CBEF338-91CE-A901-2C39-A3D367D091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7547446"/>
              </p:ext>
            </p:extLst>
          </p:nvPr>
        </p:nvGraphicFramePr>
        <p:xfrm>
          <a:off x="762000" y="509207"/>
          <a:ext cx="8321040" cy="748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BF0D356-A6C6-E74A-52B3-6780287AA5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2548" y="0"/>
            <a:ext cx="2959452" cy="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128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79455-2BB7-76AA-79FF-2D4119BE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01F50C-5C08-C465-E4FA-46EA28793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7473" y="6231470"/>
            <a:ext cx="9144000" cy="76570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FF00"/>
                </a:solidFill>
              </a:rPr>
              <a:t>ALTAR</a:t>
            </a:r>
            <a:r>
              <a:rPr lang="en-IN" dirty="0">
                <a:solidFill>
                  <a:srgbClr val="FF00FF"/>
                </a:solidFill>
              </a:rPr>
              <a:t>BYTE 	</a:t>
            </a:r>
            <a:r>
              <a:rPr lang="en-IN" dirty="0"/>
              <a:t>T-HUB 	Hyderabad	Telangana</a:t>
            </a:r>
          </a:p>
        </p:txBody>
      </p:sp>
      <p:pic>
        <p:nvPicPr>
          <p:cNvPr id="1028" name="Picture 4" descr="2-wheeler charging hub with Ampere electric bikes and scooters">
            <a:extLst>
              <a:ext uri="{FF2B5EF4-FFF2-40B4-BE49-F238E27FC236}">
                <a16:creationId xmlns:a16="http://schemas.microsoft.com/office/drawing/2014/main" id="{8ACF6120-E884-79D6-0E7C-04B61AA64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70" y="1061912"/>
            <a:ext cx="3118110" cy="2429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3-wheeler charging hub with electric auto rickshaws">
            <a:extLst>
              <a:ext uri="{FF2B5EF4-FFF2-40B4-BE49-F238E27FC236}">
                <a16:creationId xmlns:a16="http://schemas.microsoft.com/office/drawing/2014/main" id="{17F65E35-3606-235B-1F52-CB00254F9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745" y="1027337"/>
            <a:ext cx="2520359" cy="247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arge modern EV charging hub at night with neon green lighting for cars and buses">
            <a:extLst>
              <a:ext uri="{FF2B5EF4-FFF2-40B4-BE49-F238E27FC236}">
                <a16:creationId xmlns:a16="http://schemas.microsoft.com/office/drawing/2014/main" id="{A21C1C50-B576-363D-D35B-164EC1CD4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15941675"/>
            <a:ext cx="97536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Electric buses charging at modern bus depot charging hub station">
            <a:extLst>
              <a:ext uri="{FF2B5EF4-FFF2-40B4-BE49-F238E27FC236}">
                <a16:creationId xmlns:a16="http://schemas.microsoft.com/office/drawing/2014/main" id="{FF515B17-9C54-87EF-C5D5-41279056A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131" y="995363"/>
            <a:ext cx="2520359" cy="2520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5CC78F-5846-1DE4-73C4-63B6785EA7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40" y="3530446"/>
            <a:ext cx="3185314" cy="24782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9DA6E7-9F87-78CE-963B-9665867C4A75}"/>
              </a:ext>
            </a:extLst>
          </p:cNvPr>
          <p:cNvSpPr txBox="1"/>
          <p:nvPr/>
        </p:nvSpPr>
        <p:spPr>
          <a:xfrm>
            <a:off x="4026745" y="3530446"/>
            <a:ext cx="50477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Two wheeler chargers (AC, DC fast chargers)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Three wheelers chargers ( AC, DC fast chargers)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Four Wheeler chargers (AC, DC fast chargers)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Bus &amp; Commercial fleet ( DC fast chargers)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0C552E-858B-E82D-84D5-3E7F93C866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2548" y="0"/>
            <a:ext cx="2959452" cy="8483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44A558-6239-D4A5-0CD1-ACEE2DD91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473" y="647312"/>
            <a:ext cx="7564363" cy="17908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00FF00"/>
                </a:solidFill>
              </a:rPr>
              <a:t>ALTAR</a:t>
            </a:r>
            <a:r>
              <a:rPr lang="en-IN" dirty="0">
                <a:solidFill>
                  <a:srgbClr val="FF00FF"/>
                </a:solidFill>
              </a:rPr>
              <a:t>BYTE</a:t>
            </a:r>
          </a:p>
        </p:txBody>
      </p:sp>
    </p:spTree>
    <p:extLst>
      <p:ext uri="{BB962C8B-B14F-4D97-AF65-F5344CB8AC3E}">
        <p14:creationId xmlns:p14="http://schemas.microsoft.com/office/powerpoint/2010/main" val="423184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86009-DD40-FABC-CE1E-4DEF55E9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131D1-5F61-66AE-19F9-7CE435E7C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534" y="114830"/>
            <a:ext cx="9144000" cy="76570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00FF00"/>
                </a:solidFill>
              </a:rPr>
              <a:t>ALTAR</a:t>
            </a:r>
            <a:r>
              <a:rPr lang="en-IN" dirty="0">
                <a:solidFill>
                  <a:srgbClr val="FF00FF"/>
                </a:solidFill>
              </a:rPr>
              <a:t>BYTE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2CEDEE-812C-4A9F-278D-DF9717304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9759" y="6325807"/>
            <a:ext cx="9144000" cy="76570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FF00"/>
                </a:solidFill>
              </a:rPr>
              <a:t>ALTAR</a:t>
            </a:r>
            <a:r>
              <a:rPr lang="en-IN" dirty="0">
                <a:solidFill>
                  <a:srgbClr val="FF00FF"/>
                </a:solidFill>
              </a:rPr>
              <a:t>BYTE 	</a:t>
            </a:r>
            <a:r>
              <a:rPr lang="en-IN" dirty="0"/>
              <a:t>T-HUB 	Hyderabad	Telangana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3EA8A8-380F-8963-37B6-59F7A2D9F2CA}"/>
              </a:ext>
            </a:extLst>
          </p:cNvPr>
          <p:cNvGrpSpPr/>
          <p:nvPr/>
        </p:nvGrpSpPr>
        <p:grpSpPr>
          <a:xfrm>
            <a:off x="4002449" y="2589807"/>
            <a:ext cx="4598725" cy="3246146"/>
            <a:chOff x="4633823" y="2731320"/>
            <a:chExt cx="4106818" cy="2957437"/>
          </a:xfrm>
        </p:grpSpPr>
        <p:pic>
          <p:nvPicPr>
            <p:cNvPr id="2052" name="Picture 4" descr="Urban Land Master Planning Services at ...">
              <a:extLst>
                <a:ext uri="{FF2B5EF4-FFF2-40B4-BE49-F238E27FC236}">
                  <a16:creationId xmlns:a16="http://schemas.microsoft.com/office/drawing/2014/main" id="{8CBADBC5-D80E-120A-2077-7465DFDD60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3823" y="2753088"/>
              <a:ext cx="2020252" cy="13273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Fallen power lines and outage in parts of Western Division">
              <a:extLst>
                <a:ext uri="{FF2B5EF4-FFF2-40B4-BE49-F238E27FC236}">
                  <a16:creationId xmlns:a16="http://schemas.microsoft.com/office/drawing/2014/main" id="{416C3BFF-E11E-D551-EFA3-3DDACE14F6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6733" y="2731320"/>
              <a:ext cx="2053908" cy="13273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water feasibility certificate online">
              <a:extLst>
                <a:ext uri="{FF2B5EF4-FFF2-40B4-BE49-F238E27FC236}">
                  <a16:creationId xmlns:a16="http://schemas.microsoft.com/office/drawing/2014/main" id="{2CBC7587-689B-1C2C-5D57-8723A2B41F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0" y="4091305"/>
              <a:ext cx="2016761" cy="1581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0" name="Picture 12" descr="What is Investment? A Complete guide to ...">
              <a:extLst>
                <a:ext uri="{FF2B5EF4-FFF2-40B4-BE49-F238E27FC236}">
                  <a16:creationId xmlns:a16="http://schemas.microsoft.com/office/drawing/2014/main" id="{5F5821F4-30C5-6867-92D7-7F8E1308F3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3422" y="4136182"/>
              <a:ext cx="1982790" cy="15525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2062" name="TextBox 4">
            <a:extLst>
              <a:ext uri="{FF2B5EF4-FFF2-40B4-BE49-F238E27FC236}">
                <a16:creationId xmlns:a16="http://schemas.microsoft.com/office/drawing/2014/main" id="{0B18B634-6E5D-2CE7-B1E9-06C5B12AB8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7818419"/>
              </p:ext>
            </p:extLst>
          </p:nvPr>
        </p:nvGraphicFramePr>
        <p:xfrm>
          <a:off x="954533" y="983267"/>
          <a:ext cx="8407181" cy="2706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3DF8E0F-9F66-020F-A581-D81B951023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2548" y="0"/>
            <a:ext cx="2959452" cy="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02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4BDAB-E8F8-82FB-92A2-D88B41C0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143E62-EBD8-E0D5-5BE5-60D1132E2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2595" y="6321669"/>
            <a:ext cx="9144000" cy="421500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FF00"/>
                </a:solidFill>
              </a:rPr>
              <a:t>ALTAR</a:t>
            </a:r>
            <a:r>
              <a:rPr lang="en-IN" dirty="0">
                <a:solidFill>
                  <a:srgbClr val="FF00FF"/>
                </a:solidFill>
              </a:rPr>
              <a:t>BYTE 	</a:t>
            </a:r>
            <a:r>
              <a:rPr lang="en-IN" dirty="0"/>
              <a:t>T-HUB 	Hyderabad	Telangana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D562F3F-B81B-3C68-EEA1-CDB5877766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8888567"/>
              </p:ext>
            </p:extLst>
          </p:nvPr>
        </p:nvGraphicFramePr>
        <p:xfrm>
          <a:off x="370111" y="968829"/>
          <a:ext cx="8985367" cy="5148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1D080FE-E3CA-6E31-2A90-71D48EDAD1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2548" y="0"/>
            <a:ext cx="2959452" cy="848376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5DF8860-055D-4CB4-3718-BA051F213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4573" y="79663"/>
            <a:ext cx="7766936" cy="765703"/>
          </a:xfrm>
        </p:spPr>
        <p:txBody>
          <a:bodyPr/>
          <a:lstStyle/>
          <a:p>
            <a:pPr algn="ctr"/>
            <a:r>
              <a:rPr lang="en-IN" sz="4800" b="1" dirty="0"/>
              <a:t>Revenue Model</a:t>
            </a:r>
          </a:p>
        </p:txBody>
      </p:sp>
    </p:spTree>
    <p:extLst>
      <p:ext uri="{BB962C8B-B14F-4D97-AF65-F5344CB8AC3E}">
        <p14:creationId xmlns:p14="http://schemas.microsoft.com/office/powerpoint/2010/main" val="916760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2990E-330D-F061-1D53-EF4B8EF22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33A16-A4D0-CAFF-0927-49E261E21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454" y="83503"/>
            <a:ext cx="9144000" cy="76570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00FF00"/>
                </a:solidFill>
              </a:rPr>
              <a:t>ALTAR</a:t>
            </a:r>
            <a:r>
              <a:rPr lang="en-IN" dirty="0">
                <a:solidFill>
                  <a:srgbClr val="FF00FF"/>
                </a:solidFill>
              </a:rPr>
              <a:t>BYTE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D8776F-4BBA-BE39-DF75-BB84296FB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392" y="6271380"/>
            <a:ext cx="9144000" cy="76570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FF00"/>
                </a:solidFill>
              </a:rPr>
              <a:t>ALTAR</a:t>
            </a:r>
            <a:r>
              <a:rPr lang="en-IN" dirty="0">
                <a:solidFill>
                  <a:srgbClr val="FF00FF"/>
                </a:solidFill>
              </a:rPr>
              <a:t>BYTE 	</a:t>
            </a:r>
            <a:r>
              <a:rPr lang="en-IN" dirty="0"/>
              <a:t>T-HUB 	Hyderabad	Telangana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AF8CE81-8E20-10EF-C322-A7A6E1E838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8755077"/>
              </p:ext>
            </p:extLst>
          </p:nvPr>
        </p:nvGraphicFramePr>
        <p:xfrm>
          <a:off x="1679786" y="849206"/>
          <a:ext cx="6780107" cy="561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F205C96-44DD-987D-AEC8-C737E0C9B4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1581293"/>
            <a:ext cx="8698654" cy="24681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86C79C-A77D-1EE7-B835-B76063E165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060" y="4208986"/>
            <a:ext cx="8962588" cy="20285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99C548-C228-2377-C249-1130CE18E1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2548" y="0"/>
            <a:ext cx="2959452" cy="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747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98735-D009-C531-8ECC-3B7E3780C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76832-2A78-18FD-DBD7-CD66751F1C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4996" y="-158677"/>
            <a:ext cx="8288035" cy="1095059"/>
          </a:xfrm>
        </p:spPr>
        <p:txBody>
          <a:bodyPr>
            <a:normAutofit/>
          </a:bodyPr>
          <a:lstStyle/>
          <a:p>
            <a:pPr algn="l"/>
            <a:r>
              <a:rPr lang="en-IN" sz="4800" dirty="0">
                <a:solidFill>
                  <a:srgbClr val="00FF00"/>
                </a:solidFill>
              </a:rPr>
              <a:t>ALTAR</a:t>
            </a:r>
            <a:r>
              <a:rPr lang="en-IN" sz="4800" dirty="0">
                <a:solidFill>
                  <a:srgbClr val="FF00FF"/>
                </a:solidFill>
              </a:rPr>
              <a:t>BYTE</a:t>
            </a:r>
            <a:endParaRPr lang="en-IN" sz="4800" dirty="0">
              <a:solidFill>
                <a:srgbClr val="D404D4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A55C48-C637-00EE-60F8-ED76F828D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8" y="1343101"/>
            <a:ext cx="6379027" cy="4596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E29612-B6D7-207E-841E-871C90AFF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629" y="1311722"/>
            <a:ext cx="4091675" cy="46166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D413AB-0123-031E-1C82-D8C370C8B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548" y="0"/>
            <a:ext cx="2959452" cy="848376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808B2018-5A2D-AF80-7BA9-2C8038E5D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8825" y="6174015"/>
            <a:ext cx="7767637" cy="48804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FF00"/>
                </a:solidFill>
              </a:rPr>
              <a:t>ALTAR</a:t>
            </a:r>
            <a:r>
              <a:rPr lang="en-IN" dirty="0">
                <a:solidFill>
                  <a:srgbClr val="FF00FF"/>
                </a:solidFill>
              </a:rPr>
              <a:t>BYTE 	</a:t>
            </a:r>
            <a:r>
              <a:rPr lang="en-IN" dirty="0"/>
              <a:t>T-HUB 	Hyderabad	Telangana</a:t>
            </a:r>
          </a:p>
        </p:txBody>
      </p:sp>
    </p:spTree>
    <p:extLst>
      <p:ext uri="{BB962C8B-B14F-4D97-AF65-F5344CB8AC3E}">
        <p14:creationId xmlns:p14="http://schemas.microsoft.com/office/powerpoint/2010/main" val="2534333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E85347-B8B1-F19E-595A-A8CA33F57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21" y="304802"/>
            <a:ext cx="8596668" cy="1147377"/>
          </a:xfrm>
        </p:spPr>
        <p:txBody>
          <a:bodyPr/>
          <a:lstStyle/>
          <a:p>
            <a:r>
              <a:rPr lang="en-IN" b="1" dirty="0"/>
              <a:t>Financials Current and Projections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2CAF2D0-4C0D-FBEE-47F3-1207D0727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235356"/>
              </p:ext>
            </p:extLst>
          </p:nvPr>
        </p:nvGraphicFramePr>
        <p:xfrm>
          <a:off x="791283" y="1306286"/>
          <a:ext cx="9833174" cy="5116287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4916587">
                  <a:extLst>
                    <a:ext uri="{9D8B030D-6E8A-4147-A177-3AD203B41FA5}">
                      <a16:colId xmlns:a16="http://schemas.microsoft.com/office/drawing/2014/main" val="1696805313"/>
                    </a:ext>
                  </a:extLst>
                </a:gridCol>
                <a:gridCol w="4916587">
                  <a:extLst>
                    <a:ext uri="{9D8B030D-6E8A-4147-A177-3AD203B41FA5}">
                      <a16:colId xmlns:a16="http://schemas.microsoft.com/office/drawing/2014/main" val="1636710905"/>
                    </a:ext>
                  </a:extLst>
                </a:gridCol>
              </a:tblGrid>
              <a:tr h="469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i="0" dirty="0"/>
                        <a:t>Current Financials (2026)</a:t>
                      </a:r>
                    </a:p>
                  </a:txBody>
                  <a:tcPr marL="90266" marR="90266" marT="45133" marB="45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i="0" dirty="0"/>
                        <a:t>3-Year Growth Projections</a:t>
                      </a:r>
                    </a:p>
                  </a:txBody>
                  <a:tcPr marL="90266" marR="90266" marT="45133" marB="45133" anchor="ctr"/>
                </a:tc>
                <a:extLst>
                  <a:ext uri="{0D108BD9-81ED-4DB2-BD59-A6C34878D82A}">
                    <a16:rowId xmlns:a16="http://schemas.microsoft.com/office/drawing/2014/main" val="4216895110"/>
                  </a:ext>
                </a:extLst>
              </a:tr>
              <a:tr h="834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i="1" dirty="0"/>
                        <a:t>• 2 Active EV Charging Projects Under Execution</a:t>
                      </a:r>
                    </a:p>
                  </a:txBody>
                  <a:tcPr marL="90266" marR="90266" marT="45133" marB="45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i="1"/>
                        <a:t>• Revenue Growth Target: ₹1.2 Cr → ₹8–12 Cr</a:t>
                      </a:r>
                    </a:p>
                  </a:txBody>
                  <a:tcPr marL="90266" marR="90266" marT="45133" marB="45133" anchor="ctr"/>
                </a:tc>
                <a:extLst>
                  <a:ext uri="{0D108BD9-81ED-4DB2-BD59-A6C34878D82A}">
                    <a16:rowId xmlns:a16="http://schemas.microsoft.com/office/drawing/2014/main" val="3842303514"/>
                  </a:ext>
                </a:extLst>
              </a:tr>
              <a:tr h="834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i="1" dirty="0"/>
                        <a:t>• Average Project Value: ₹45 Lakhs</a:t>
                      </a:r>
                    </a:p>
                  </a:txBody>
                  <a:tcPr marL="90266" marR="90266" marT="45133" marB="45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i="1" dirty="0"/>
                        <a:t>• Expansion Across AP &amp; Telangana Markets</a:t>
                      </a:r>
                    </a:p>
                  </a:txBody>
                  <a:tcPr marL="90266" marR="90266" marT="45133" marB="45133" anchor="ctr"/>
                </a:tc>
                <a:extLst>
                  <a:ext uri="{0D108BD9-81ED-4DB2-BD59-A6C34878D82A}">
                    <a16:rowId xmlns:a16="http://schemas.microsoft.com/office/drawing/2014/main" val="3886773867"/>
                  </a:ext>
                </a:extLst>
              </a:tr>
              <a:tr h="834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i="1"/>
                        <a:t>• Current Order Book: ₹90 Lakhs</a:t>
                      </a:r>
                    </a:p>
                  </a:txBody>
                  <a:tcPr marL="90266" marR="90266" marT="45133" marB="45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i="1" dirty="0"/>
                        <a:t>• 24+ EV Infrastructure Projects by FY 2028–29</a:t>
                      </a:r>
                    </a:p>
                  </a:txBody>
                  <a:tcPr marL="90266" marR="90266" marT="45133" marB="45133" anchor="ctr"/>
                </a:tc>
                <a:extLst>
                  <a:ext uri="{0D108BD9-81ED-4DB2-BD59-A6C34878D82A}">
                    <a16:rowId xmlns:a16="http://schemas.microsoft.com/office/drawing/2014/main" val="2468100774"/>
                  </a:ext>
                </a:extLst>
              </a:tr>
              <a:tr h="834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800" i="1"/>
                        <a:t>• Net Profit Margin: 10–15% Per Project</a:t>
                      </a:r>
                    </a:p>
                  </a:txBody>
                  <a:tcPr marL="90266" marR="90266" marT="45133" marB="45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i="1" dirty="0"/>
                        <a:t>• Projected Net Profit: ₹1–1.5 Cr Annually</a:t>
                      </a:r>
                    </a:p>
                  </a:txBody>
                  <a:tcPr marL="90266" marR="90266" marT="45133" marB="45133" anchor="ctr"/>
                </a:tc>
                <a:extLst>
                  <a:ext uri="{0D108BD9-81ED-4DB2-BD59-A6C34878D82A}">
                    <a16:rowId xmlns:a16="http://schemas.microsoft.com/office/drawing/2014/main" val="3068938876"/>
                  </a:ext>
                </a:extLst>
              </a:tr>
              <a:tr h="476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i="1"/>
                        <a:t>• Monthly Operational Burn: ₹1.5 Lakhs</a:t>
                      </a:r>
                    </a:p>
                  </a:txBody>
                  <a:tcPr marL="90266" marR="90266" marT="45133" marB="45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i="1" dirty="0"/>
                        <a:t>• Gross Margin Improvement to 20–25%</a:t>
                      </a:r>
                    </a:p>
                  </a:txBody>
                  <a:tcPr marL="90266" marR="90266" marT="45133" marB="45133" anchor="ctr"/>
                </a:tc>
                <a:extLst>
                  <a:ext uri="{0D108BD9-81ED-4DB2-BD59-A6C34878D82A}">
                    <a16:rowId xmlns:a16="http://schemas.microsoft.com/office/drawing/2014/main" val="3056336634"/>
                  </a:ext>
                </a:extLst>
              </a:tr>
              <a:tr h="834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i="1" dirty="0"/>
                        <a:t>• Services Include EV Chargers, Electrical, Civil Works &amp; AMC</a:t>
                      </a:r>
                    </a:p>
                  </a:txBody>
                  <a:tcPr marL="90266" marR="90266" marT="45133" marB="45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i="1" dirty="0"/>
                        <a:t>• Focus on Fleet Charging, Highway Charging &amp; AMC Revenue</a:t>
                      </a:r>
                    </a:p>
                  </a:txBody>
                  <a:tcPr marL="90266" marR="90266" marT="45133" marB="45133" anchor="ctr"/>
                </a:tc>
                <a:extLst>
                  <a:ext uri="{0D108BD9-81ED-4DB2-BD59-A6C34878D82A}">
                    <a16:rowId xmlns:a16="http://schemas.microsoft.com/office/drawing/2014/main" val="877284008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1B05415B-5F98-2E36-6B23-BE67B8414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548" y="0"/>
            <a:ext cx="2959452" cy="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26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B027445-4C8E-099C-E56E-978F834EAE92}"/>
              </a:ext>
            </a:extLst>
          </p:cNvPr>
          <p:cNvSpPr txBox="1"/>
          <p:nvPr/>
        </p:nvSpPr>
        <p:spPr>
          <a:xfrm>
            <a:off x="1087821" y="1860331"/>
            <a:ext cx="7488620" cy="4414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FAE12B98-C03E-C25B-04F2-299BF7772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861165"/>
              </p:ext>
            </p:extLst>
          </p:nvPr>
        </p:nvGraphicFramePr>
        <p:xfrm>
          <a:off x="685800" y="1385441"/>
          <a:ext cx="10145486" cy="540086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072743">
                  <a:extLst>
                    <a:ext uri="{9D8B030D-6E8A-4147-A177-3AD203B41FA5}">
                      <a16:colId xmlns:a16="http://schemas.microsoft.com/office/drawing/2014/main" val="665612309"/>
                    </a:ext>
                  </a:extLst>
                </a:gridCol>
                <a:gridCol w="5072743">
                  <a:extLst>
                    <a:ext uri="{9D8B030D-6E8A-4147-A177-3AD203B41FA5}">
                      <a16:colId xmlns:a16="http://schemas.microsoft.com/office/drawing/2014/main" val="1587415858"/>
                    </a:ext>
                  </a:extLst>
                </a:gridCol>
              </a:tblGrid>
              <a:tr h="45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Funding Needs &amp; Use of Funds</a:t>
                      </a:r>
                    </a:p>
                  </a:txBody>
                  <a:tcPr marL="57932" marR="57932" marT="28966" marB="2896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Investment Validation &amp; Growth Outlook</a:t>
                      </a:r>
                    </a:p>
                  </a:txBody>
                  <a:tcPr marL="57932" marR="57932" marT="28966" marB="2896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078854"/>
                  </a:ext>
                </a:extLst>
              </a:tr>
              <a:tr h="654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• Seeking Pre-Seed Investment of ₹75 Lakhs – ₹1 Crore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• Strong EV adoption growth across Andhra Pradesh &amp; Telangana markets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1127344442"/>
                  </a:ext>
                </a:extLst>
              </a:tr>
              <a:tr h="858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• Funds Allocation: Working Capital, Team Expansion, Marketing &amp; Project Execution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• Government focus on EV ecosystem &amp; net-zero carbon targets by 2030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1623847272"/>
                  </a:ext>
                </a:extLst>
              </a:tr>
              <a:tr h="858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• Planned Use: EV charger deployments, electrical &amp; civil infrastructure scaling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• Increasing demand for commercial, fleet &amp; highway charging infrastructure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2345029402"/>
                  </a:ext>
                </a:extLst>
              </a:tr>
              <a:tr h="858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• Current Strategic Ecosystem Includes OEM &amp; Charging Network Partnerships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• Growing opportunity in apartments, fleets, petrol bunks &amp; commercial spaces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2285885946"/>
                  </a:ext>
                </a:extLst>
              </a:tr>
              <a:tr h="654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• Investment Runway: 18–24 Months with target of 25–40 projects executed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• Target Revenue Milestone: ₹4–5 Cr annual revenue within next growth phase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1423426090"/>
                  </a:ext>
                </a:extLst>
              </a:tr>
              <a:tr h="1062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• Proposed Valuation for Current Round: ₹8–10 Crore Pre-Money; Follow-on Series A planned after operational scale-up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• Long-term focus on scalable EV EPC + AMC recurring revenue business model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136126703"/>
                  </a:ext>
                </a:extLst>
              </a:tr>
            </a:tbl>
          </a:graphicData>
        </a:graphic>
      </p:graphicFrame>
      <p:pic>
        <p:nvPicPr>
          <p:cNvPr id="30" name="Picture 29">
            <a:extLst>
              <a:ext uri="{FF2B5EF4-FFF2-40B4-BE49-F238E27FC236}">
                <a16:creationId xmlns:a16="http://schemas.microsoft.com/office/drawing/2014/main" id="{F9B4CDA1-1072-30FD-44FF-A15DAE801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548" y="0"/>
            <a:ext cx="2959452" cy="848376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8228A88F-8941-D776-2ECD-3A84BA066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71" y="219545"/>
            <a:ext cx="9129318" cy="84837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Funding Requirements &amp; Growth Plan</a:t>
            </a:r>
            <a:br>
              <a:rPr lang="en-IN" b="1" dirty="0"/>
            </a:br>
            <a:r>
              <a:rPr lang="en-IN" b="1" dirty="0"/>
              <a:t> and Projections</a:t>
            </a:r>
          </a:p>
        </p:txBody>
      </p:sp>
    </p:spTree>
    <p:extLst>
      <p:ext uri="{BB962C8B-B14F-4D97-AF65-F5344CB8AC3E}">
        <p14:creationId xmlns:p14="http://schemas.microsoft.com/office/powerpoint/2010/main" val="1508014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746976-4186-FA6F-0AAC-AF7742F52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828688"/>
              </p:ext>
            </p:extLst>
          </p:nvPr>
        </p:nvGraphicFramePr>
        <p:xfrm>
          <a:off x="674913" y="951888"/>
          <a:ext cx="9699172" cy="571692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849586">
                  <a:extLst>
                    <a:ext uri="{9D8B030D-6E8A-4147-A177-3AD203B41FA5}">
                      <a16:colId xmlns:a16="http://schemas.microsoft.com/office/drawing/2014/main" val="4247004894"/>
                    </a:ext>
                  </a:extLst>
                </a:gridCol>
                <a:gridCol w="4849586">
                  <a:extLst>
                    <a:ext uri="{9D8B030D-6E8A-4147-A177-3AD203B41FA5}">
                      <a16:colId xmlns:a16="http://schemas.microsoft.com/office/drawing/2014/main" val="696528315"/>
                    </a:ext>
                  </a:extLst>
                </a:gridCol>
              </a:tblGrid>
              <a:tr h="465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Equity Structure &amp; Ownership</a:t>
                      </a:r>
                    </a:p>
                  </a:txBody>
                  <a:tcPr marL="84379" marR="84379" marT="42190" marB="42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Investment History &amp; Fund Utilization</a:t>
                      </a:r>
                    </a:p>
                  </a:txBody>
                  <a:tcPr marL="84379" marR="84379" marT="42190" marB="42190" anchor="ctr"/>
                </a:tc>
                <a:extLst>
                  <a:ext uri="{0D108BD9-81ED-4DB2-BD59-A6C34878D82A}">
                    <a16:rowId xmlns:a16="http://schemas.microsoft.com/office/drawing/2014/main" val="294976361"/>
                  </a:ext>
                </a:extLst>
              </a:tr>
              <a:tr h="816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• Current Founding Team Consists of 3 Owners &amp; 5 Operational Employees</a:t>
                      </a:r>
                    </a:p>
                  </a:txBody>
                  <a:tcPr marL="84379" marR="84379" marT="42190" marB="42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• Total Founder Investment Till Date: ₹10 Lakhs</a:t>
                      </a:r>
                    </a:p>
                  </a:txBody>
                  <a:tcPr marL="84379" marR="84379" marT="42190" marB="42190" anchor="ctr"/>
                </a:tc>
                <a:extLst>
                  <a:ext uri="{0D108BD9-81ED-4DB2-BD59-A6C34878D82A}">
                    <a16:rowId xmlns:a16="http://schemas.microsoft.com/office/drawing/2014/main" val="3197414509"/>
                  </a:ext>
                </a:extLst>
              </a:tr>
              <a:tr h="816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• Founder &amp; CEO Holds Majority Stake of 51%</a:t>
                      </a:r>
                    </a:p>
                  </a:txBody>
                  <a:tcPr marL="84379" marR="84379" marT="42190" marB="42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• No External Investors or Institutional Funding Raised Yet</a:t>
                      </a:r>
                    </a:p>
                  </a:txBody>
                  <a:tcPr marL="84379" marR="84379" marT="42190" marB="42190" anchor="ctr"/>
                </a:tc>
                <a:extLst>
                  <a:ext uri="{0D108BD9-81ED-4DB2-BD59-A6C34878D82A}">
                    <a16:rowId xmlns:a16="http://schemas.microsoft.com/office/drawing/2014/main" val="3997812775"/>
                  </a:ext>
                </a:extLst>
              </a:tr>
              <a:tr h="816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• Remaining 49% Equity Split Equally Between Other 2 Co-Founders</a:t>
                      </a:r>
                    </a:p>
                  </a:txBody>
                  <a:tcPr marL="84379" marR="84379" marT="42190" marB="42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• Initial Capital Used for Office Setup, Infrastructure &amp; Operations</a:t>
                      </a:r>
                    </a:p>
                  </a:txBody>
                  <a:tcPr marL="84379" marR="84379" marT="42190" marB="42190" anchor="ctr"/>
                </a:tc>
                <a:extLst>
                  <a:ext uri="{0D108BD9-81ED-4DB2-BD59-A6C34878D82A}">
                    <a16:rowId xmlns:a16="http://schemas.microsoft.com/office/drawing/2014/main" val="3201516697"/>
                  </a:ext>
                </a:extLst>
              </a:tr>
              <a:tr h="816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• Founder-Led Decision Making with Lean Startup Structure</a:t>
                      </a:r>
                    </a:p>
                  </a:txBody>
                  <a:tcPr marL="84379" marR="84379" marT="42190" marB="42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• Funds Utilized for Field Visits, Client Evaluations &amp; Travel Expenses</a:t>
                      </a:r>
                    </a:p>
                  </a:txBody>
                  <a:tcPr marL="84379" marR="84379" marT="42190" marB="42190" anchor="ctr"/>
                </a:tc>
                <a:extLst>
                  <a:ext uri="{0D108BD9-81ED-4DB2-BD59-A6C34878D82A}">
                    <a16:rowId xmlns:a16="http://schemas.microsoft.com/office/drawing/2014/main" val="2157731527"/>
                  </a:ext>
                </a:extLst>
              </a:tr>
              <a:tr h="816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• Future ESOP &amp; Investor Pool Planned for Strategic Expansion</a:t>
                      </a:r>
                    </a:p>
                  </a:txBody>
                  <a:tcPr marL="84379" marR="84379" marT="42190" marB="42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• Investments Also Supported Sales, Marketing &amp; Business Development</a:t>
                      </a:r>
                    </a:p>
                  </a:txBody>
                  <a:tcPr marL="84379" marR="84379" marT="42190" marB="42190" anchor="ctr"/>
                </a:tc>
                <a:extLst>
                  <a:ext uri="{0D108BD9-81ED-4DB2-BD59-A6C34878D82A}">
                    <a16:rowId xmlns:a16="http://schemas.microsoft.com/office/drawing/2014/main" val="2570432768"/>
                  </a:ext>
                </a:extLst>
              </a:tr>
              <a:tr h="1167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• Equity Structure Designed to Maintain Founder Control &amp; Long-Term Stability</a:t>
                      </a:r>
                    </a:p>
                  </a:txBody>
                  <a:tcPr marL="84379" marR="84379" marT="42190" marB="42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• Current Funding Enabled Market Entry &amp; Initial EV Infrastructure Projects</a:t>
                      </a:r>
                    </a:p>
                  </a:txBody>
                  <a:tcPr marL="84379" marR="84379" marT="42190" marB="42190" anchor="ctr"/>
                </a:tc>
                <a:extLst>
                  <a:ext uri="{0D108BD9-81ED-4DB2-BD59-A6C34878D82A}">
                    <a16:rowId xmlns:a16="http://schemas.microsoft.com/office/drawing/2014/main" val="270023669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26619F8-10ED-0E31-4B85-B974A2B4D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548" y="0"/>
            <a:ext cx="2959452" cy="848376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F18D1792-1EE7-90A0-3CA5-28813909B76D}"/>
              </a:ext>
            </a:extLst>
          </p:cNvPr>
          <p:cNvSpPr txBox="1">
            <a:spLocks/>
          </p:cNvSpPr>
          <p:nvPr/>
        </p:nvSpPr>
        <p:spPr>
          <a:xfrm>
            <a:off x="-261256" y="135712"/>
            <a:ext cx="9820377" cy="848376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/>
              <a:t>Current Equity Structure &amp; Investment History</a:t>
            </a:r>
          </a:p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61050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60C56A-2536-FFA3-A7EC-FBCA42D04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008772"/>
              </p:ext>
            </p:extLst>
          </p:nvPr>
        </p:nvGraphicFramePr>
        <p:xfrm>
          <a:off x="395535" y="984088"/>
          <a:ext cx="11078008" cy="5836257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539004">
                  <a:extLst>
                    <a:ext uri="{9D8B030D-6E8A-4147-A177-3AD203B41FA5}">
                      <a16:colId xmlns:a16="http://schemas.microsoft.com/office/drawing/2014/main" val="40414312"/>
                    </a:ext>
                  </a:extLst>
                </a:gridCol>
                <a:gridCol w="5539004">
                  <a:extLst>
                    <a:ext uri="{9D8B030D-6E8A-4147-A177-3AD203B41FA5}">
                      <a16:colId xmlns:a16="http://schemas.microsoft.com/office/drawing/2014/main" val="4079246089"/>
                    </a:ext>
                  </a:extLst>
                </a:gridCol>
              </a:tblGrid>
              <a:tr h="428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Investor Exit Opportunities</a:t>
                      </a:r>
                    </a:p>
                  </a:txBody>
                  <a:tcPr marL="49132" marR="49132" marT="24566" marB="2456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Market Potential &amp; Industry Outlook</a:t>
                      </a:r>
                    </a:p>
                  </a:txBody>
                  <a:tcPr marL="49132" marR="49132" marT="24566" marB="2456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626336"/>
                  </a:ext>
                </a:extLst>
              </a:tr>
              <a:tr h="901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• Investors can exit through future strategic acquisition by larger EV charging, energy or infrastructure companies</a:t>
                      </a:r>
                    </a:p>
                  </a:txBody>
                  <a:tcPr marL="49132" marR="49132" marT="24566" marB="245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• EV adoption across AP &amp; Telangana is rapidly increasing with strong government push towards sustainable mobility</a:t>
                      </a:r>
                    </a:p>
                  </a:txBody>
                  <a:tcPr marL="49132" marR="49132" marT="24566" marB="24566" anchor="ctr"/>
                </a:tc>
                <a:extLst>
                  <a:ext uri="{0D108BD9-81ED-4DB2-BD59-A6C34878D82A}">
                    <a16:rowId xmlns:a16="http://schemas.microsoft.com/office/drawing/2014/main" val="2518158403"/>
                  </a:ext>
                </a:extLst>
              </a:tr>
              <a:tr h="901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• As the company scales, future institutional or strategic investors may acquire early-stage investor equity</a:t>
                      </a:r>
                    </a:p>
                  </a:txBody>
                  <a:tcPr marL="49132" marR="49132" marT="24566" marB="245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• India’s target towards reduced carbon emissions and EV ecosystem expansion by 2030 creates long-term market opportunity</a:t>
                      </a:r>
                    </a:p>
                  </a:txBody>
                  <a:tcPr marL="49132" marR="49132" marT="24566" marB="24566" anchor="ctr"/>
                </a:tc>
                <a:extLst>
                  <a:ext uri="{0D108BD9-81ED-4DB2-BD59-A6C34878D82A}">
                    <a16:rowId xmlns:a16="http://schemas.microsoft.com/office/drawing/2014/main" val="2358176368"/>
                  </a:ext>
                </a:extLst>
              </a:tr>
              <a:tr h="901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• Potential partnerships with OEMs, charging network operators and energy companies can create acquisition opportunities</a:t>
                      </a:r>
                    </a:p>
                  </a:txBody>
                  <a:tcPr marL="49132" marR="49132" marT="24566" marB="245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• Increasing demand for highway, commercial and fleet charging infrastructure is driving strong sector growth</a:t>
                      </a:r>
                    </a:p>
                  </a:txBody>
                  <a:tcPr marL="49132" marR="49132" marT="24566" marB="24566" anchor="ctr"/>
                </a:tc>
                <a:extLst>
                  <a:ext uri="{0D108BD9-81ED-4DB2-BD59-A6C34878D82A}">
                    <a16:rowId xmlns:a16="http://schemas.microsoft.com/office/drawing/2014/main" val="3659443830"/>
                  </a:ext>
                </a:extLst>
              </a:tr>
              <a:tr h="901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• Investors may also exit through secondary share sale during future growth funding rounds</a:t>
                      </a:r>
                    </a:p>
                  </a:txBody>
                  <a:tcPr marL="49132" marR="49132" marT="24566" marB="245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• EV infrastructure is expected to become a core part of commercial real estate, fleets and urban mobility systems</a:t>
                      </a:r>
                    </a:p>
                  </a:txBody>
                  <a:tcPr marL="49132" marR="49132" marT="24566" marB="24566" anchor="ctr"/>
                </a:tc>
                <a:extLst>
                  <a:ext uri="{0D108BD9-81ED-4DB2-BD59-A6C34878D82A}">
                    <a16:rowId xmlns:a16="http://schemas.microsoft.com/office/drawing/2014/main" val="844646242"/>
                  </a:ext>
                </a:extLst>
              </a:tr>
              <a:tr h="901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• Long-term goal is to build a scalable EV infrastructure company with recurring AMC and operational revenues</a:t>
                      </a:r>
                    </a:p>
                  </a:txBody>
                  <a:tcPr marL="49132" marR="49132" marT="24566" marB="245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• The market is still in early stages, providing strong potential for valuation growth over the next 5–7 years</a:t>
                      </a:r>
                    </a:p>
                  </a:txBody>
                  <a:tcPr marL="49132" marR="49132" marT="24566" marB="24566" anchor="ctr"/>
                </a:tc>
                <a:extLst>
                  <a:ext uri="{0D108BD9-81ED-4DB2-BD59-A6C34878D82A}">
                    <a16:rowId xmlns:a16="http://schemas.microsoft.com/office/drawing/2014/main" val="2284658091"/>
                  </a:ext>
                </a:extLst>
              </a:tr>
              <a:tr h="901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• Based on future scale and market expansion, IPO can be considered as a long-term possibility</a:t>
                      </a:r>
                    </a:p>
                  </a:txBody>
                  <a:tcPr marL="49132" marR="49132" marT="24566" marB="245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• Similar clean-tech and mobility infrastructure companies have seen strong investor interest globally and in India</a:t>
                      </a:r>
                    </a:p>
                  </a:txBody>
                  <a:tcPr marL="49132" marR="49132" marT="24566" marB="24566" anchor="ctr"/>
                </a:tc>
                <a:extLst>
                  <a:ext uri="{0D108BD9-81ED-4DB2-BD59-A6C34878D82A}">
                    <a16:rowId xmlns:a16="http://schemas.microsoft.com/office/drawing/2014/main" val="391925587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EC006B1-7ADB-9CE2-FB88-76B7964D8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548" y="0"/>
            <a:ext cx="2959452" cy="848376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18280706-058A-3AF4-FBFF-9F41D6BBFAED}"/>
              </a:ext>
            </a:extLst>
          </p:cNvPr>
          <p:cNvSpPr txBox="1">
            <a:spLocks/>
          </p:cNvSpPr>
          <p:nvPr/>
        </p:nvSpPr>
        <p:spPr>
          <a:xfrm>
            <a:off x="395535" y="135712"/>
            <a:ext cx="8902329" cy="84837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/>
              <a:t> Exit Opportunities for Investors</a:t>
            </a:r>
          </a:p>
        </p:txBody>
      </p:sp>
    </p:spTree>
    <p:extLst>
      <p:ext uri="{BB962C8B-B14F-4D97-AF65-F5344CB8AC3E}">
        <p14:creationId xmlns:p14="http://schemas.microsoft.com/office/powerpoint/2010/main" val="210768614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F3C64D2-098D-482A-A4CF-AEDC2B79989F}">
  <we:reference id="wa200005669" version="2.0.0.0" store="en-US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17259</TotalTime>
  <Words>1174</Words>
  <Application>Microsoft Office PowerPoint</Application>
  <PresentationFormat>Widescreen</PresentationFormat>
  <Paragraphs>138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ALTARBYTE</vt:lpstr>
      <vt:lpstr>ALTARBYTE</vt:lpstr>
      <vt:lpstr>Revenue Model</vt:lpstr>
      <vt:lpstr>ALTARBYTE</vt:lpstr>
      <vt:lpstr>ALTARBYTE</vt:lpstr>
      <vt:lpstr>Financials Current and Projections</vt:lpstr>
      <vt:lpstr>Funding Requirements &amp; Growth Plan  and Projections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Anvesh Thodupunuri</dc:creator>
  <cp:lastModifiedBy>Lavanya Munagapati</cp:lastModifiedBy>
  <cp:revision>5</cp:revision>
  <dcterms:created xsi:type="dcterms:W3CDTF">2026-05-06T14:09:15Z</dcterms:created>
  <dcterms:modified xsi:type="dcterms:W3CDTF">2026-07-12T16:54:25Z</dcterms:modified>
</cp:coreProperties>
</file>